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7" r:id="rId3"/>
    <p:sldId id="264" r:id="rId4"/>
    <p:sldId id="265" r:id="rId5"/>
    <p:sldId id="270" r:id="rId6"/>
    <p:sldId id="269"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B09EBD-B4A4-9ECC-2C31-85E9A7F385B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ZA"/>
          </a:p>
        </p:txBody>
      </p:sp>
      <p:sp>
        <p:nvSpPr>
          <p:cNvPr id="3" name="Subtitle 2">
            <a:extLst>
              <a:ext uri="{FF2B5EF4-FFF2-40B4-BE49-F238E27FC236}">
                <a16:creationId xmlns:a16="http://schemas.microsoft.com/office/drawing/2014/main" id="{CFF1F2A3-326F-3BA5-7C20-E15E35C90BB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ZA"/>
          </a:p>
        </p:txBody>
      </p:sp>
      <p:sp>
        <p:nvSpPr>
          <p:cNvPr id="4" name="Date Placeholder 3">
            <a:extLst>
              <a:ext uri="{FF2B5EF4-FFF2-40B4-BE49-F238E27FC236}">
                <a16:creationId xmlns:a16="http://schemas.microsoft.com/office/drawing/2014/main" id="{98D7E8C1-8B3A-CE25-5DF5-330C73489CE3}"/>
              </a:ext>
            </a:extLst>
          </p:cNvPr>
          <p:cNvSpPr>
            <a:spLocks noGrp="1"/>
          </p:cNvSpPr>
          <p:nvPr>
            <p:ph type="dt" sz="half" idx="10"/>
          </p:nvPr>
        </p:nvSpPr>
        <p:spPr/>
        <p:txBody>
          <a:bodyPr/>
          <a:lstStyle/>
          <a:p>
            <a:fld id="{A51F0EED-3C02-4325-891E-8B71C321773E}" type="datetimeFigureOut">
              <a:rPr lang="en-ZA" smtClean="0"/>
              <a:t>2026/08/31</a:t>
            </a:fld>
            <a:endParaRPr lang="en-ZA"/>
          </a:p>
        </p:txBody>
      </p:sp>
      <p:sp>
        <p:nvSpPr>
          <p:cNvPr id="5" name="Footer Placeholder 4">
            <a:extLst>
              <a:ext uri="{FF2B5EF4-FFF2-40B4-BE49-F238E27FC236}">
                <a16:creationId xmlns:a16="http://schemas.microsoft.com/office/drawing/2014/main" id="{FDE3D7DC-1504-1CFA-A298-D801E87A557D}"/>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A37F76D1-437D-518E-FC4E-510584EFCD68}"/>
              </a:ext>
            </a:extLst>
          </p:cNvPr>
          <p:cNvSpPr>
            <a:spLocks noGrp="1"/>
          </p:cNvSpPr>
          <p:nvPr>
            <p:ph type="sldNum" sz="quarter" idx="12"/>
          </p:nvPr>
        </p:nvSpPr>
        <p:spPr/>
        <p:txBody>
          <a:bodyPr/>
          <a:lstStyle/>
          <a:p>
            <a:fld id="{CB46AC4C-D33D-457F-AA21-CB8D032D5EDA}" type="slidenum">
              <a:rPr lang="en-ZA" smtClean="0"/>
              <a:t>‹#›</a:t>
            </a:fld>
            <a:endParaRPr lang="en-ZA"/>
          </a:p>
        </p:txBody>
      </p:sp>
    </p:spTree>
    <p:extLst>
      <p:ext uri="{BB962C8B-B14F-4D97-AF65-F5344CB8AC3E}">
        <p14:creationId xmlns:p14="http://schemas.microsoft.com/office/powerpoint/2010/main" val="17526828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003F34-C0EB-54FE-62C3-42A90E6136FE}"/>
              </a:ext>
            </a:extLst>
          </p:cNvPr>
          <p:cNvSpPr>
            <a:spLocks noGrp="1"/>
          </p:cNvSpPr>
          <p:nvPr>
            <p:ph type="title"/>
          </p:nvPr>
        </p:nvSpPr>
        <p:spPr/>
        <p:txBody>
          <a:bodyPr/>
          <a:lstStyle/>
          <a:p>
            <a:r>
              <a:rPr lang="en-US"/>
              <a:t>Click to edit Master title style</a:t>
            </a:r>
            <a:endParaRPr lang="en-ZA"/>
          </a:p>
        </p:txBody>
      </p:sp>
      <p:sp>
        <p:nvSpPr>
          <p:cNvPr id="3" name="Content Placeholder 2">
            <a:extLst>
              <a:ext uri="{FF2B5EF4-FFF2-40B4-BE49-F238E27FC236}">
                <a16:creationId xmlns:a16="http://schemas.microsoft.com/office/drawing/2014/main" id="{CC69A1B9-4DE7-233C-865F-83876605507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C6D1D3FB-1E40-D15E-CFBB-2BC9C47D080D}"/>
              </a:ext>
            </a:extLst>
          </p:cNvPr>
          <p:cNvSpPr>
            <a:spLocks noGrp="1"/>
          </p:cNvSpPr>
          <p:nvPr>
            <p:ph type="dt" sz="half" idx="10"/>
          </p:nvPr>
        </p:nvSpPr>
        <p:spPr/>
        <p:txBody>
          <a:bodyPr/>
          <a:lstStyle/>
          <a:p>
            <a:fld id="{A51F0EED-3C02-4325-891E-8B71C321773E}" type="datetimeFigureOut">
              <a:rPr lang="en-ZA" smtClean="0"/>
              <a:t>2026/08/31</a:t>
            </a:fld>
            <a:endParaRPr lang="en-ZA"/>
          </a:p>
        </p:txBody>
      </p:sp>
      <p:sp>
        <p:nvSpPr>
          <p:cNvPr id="5" name="Footer Placeholder 4">
            <a:extLst>
              <a:ext uri="{FF2B5EF4-FFF2-40B4-BE49-F238E27FC236}">
                <a16:creationId xmlns:a16="http://schemas.microsoft.com/office/drawing/2014/main" id="{2918E5F7-D142-96DF-98CD-3E18FAB7EB8E}"/>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CF4DF7AF-E47D-A809-566D-17693C6B0BEC}"/>
              </a:ext>
            </a:extLst>
          </p:cNvPr>
          <p:cNvSpPr>
            <a:spLocks noGrp="1"/>
          </p:cNvSpPr>
          <p:nvPr>
            <p:ph type="sldNum" sz="quarter" idx="12"/>
          </p:nvPr>
        </p:nvSpPr>
        <p:spPr/>
        <p:txBody>
          <a:bodyPr/>
          <a:lstStyle/>
          <a:p>
            <a:fld id="{CB46AC4C-D33D-457F-AA21-CB8D032D5EDA}" type="slidenum">
              <a:rPr lang="en-ZA" smtClean="0"/>
              <a:t>‹#›</a:t>
            </a:fld>
            <a:endParaRPr lang="en-ZA"/>
          </a:p>
        </p:txBody>
      </p:sp>
    </p:spTree>
    <p:extLst>
      <p:ext uri="{BB962C8B-B14F-4D97-AF65-F5344CB8AC3E}">
        <p14:creationId xmlns:p14="http://schemas.microsoft.com/office/powerpoint/2010/main" val="4121037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C3CB09-71A9-2117-0944-58A251A81D9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ZA"/>
          </a:p>
        </p:txBody>
      </p:sp>
      <p:sp>
        <p:nvSpPr>
          <p:cNvPr id="3" name="Text Placeholder 2">
            <a:extLst>
              <a:ext uri="{FF2B5EF4-FFF2-40B4-BE49-F238E27FC236}">
                <a16:creationId xmlns:a16="http://schemas.microsoft.com/office/drawing/2014/main" id="{0A75F30F-627D-C5A6-1061-38009924E95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37FAA98-E270-E11B-2BCA-9A08D5EF49FF}"/>
              </a:ext>
            </a:extLst>
          </p:cNvPr>
          <p:cNvSpPr>
            <a:spLocks noGrp="1"/>
          </p:cNvSpPr>
          <p:nvPr>
            <p:ph type="dt" sz="half" idx="10"/>
          </p:nvPr>
        </p:nvSpPr>
        <p:spPr/>
        <p:txBody>
          <a:bodyPr/>
          <a:lstStyle/>
          <a:p>
            <a:fld id="{A51F0EED-3C02-4325-891E-8B71C321773E}" type="datetimeFigureOut">
              <a:rPr lang="en-ZA" smtClean="0"/>
              <a:t>2026/08/31</a:t>
            </a:fld>
            <a:endParaRPr lang="en-ZA"/>
          </a:p>
        </p:txBody>
      </p:sp>
      <p:sp>
        <p:nvSpPr>
          <p:cNvPr id="5" name="Footer Placeholder 4">
            <a:extLst>
              <a:ext uri="{FF2B5EF4-FFF2-40B4-BE49-F238E27FC236}">
                <a16:creationId xmlns:a16="http://schemas.microsoft.com/office/drawing/2014/main" id="{B151413A-80E4-4C93-2926-CF661AA16F23}"/>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94854301-D461-28C4-906E-CEF76A2E6454}"/>
              </a:ext>
            </a:extLst>
          </p:cNvPr>
          <p:cNvSpPr>
            <a:spLocks noGrp="1"/>
          </p:cNvSpPr>
          <p:nvPr>
            <p:ph type="sldNum" sz="quarter" idx="12"/>
          </p:nvPr>
        </p:nvSpPr>
        <p:spPr/>
        <p:txBody>
          <a:bodyPr/>
          <a:lstStyle/>
          <a:p>
            <a:fld id="{CB46AC4C-D33D-457F-AA21-CB8D032D5EDA}" type="slidenum">
              <a:rPr lang="en-ZA" smtClean="0"/>
              <a:t>‹#›</a:t>
            </a:fld>
            <a:endParaRPr lang="en-ZA"/>
          </a:p>
        </p:txBody>
      </p:sp>
    </p:spTree>
    <p:extLst>
      <p:ext uri="{BB962C8B-B14F-4D97-AF65-F5344CB8AC3E}">
        <p14:creationId xmlns:p14="http://schemas.microsoft.com/office/powerpoint/2010/main" val="31700939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C5F11-466B-1FE9-F393-44CF3ECE948D}"/>
              </a:ext>
            </a:extLst>
          </p:cNvPr>
          <p:cNvSpPr>
            <a:spLocks noGrp="1"/>
          </p:cNvSpPr>
          <p:nvPr>
            <p:ph type="title"/>
          </p:nvPr>
        </p:nvSpPr>
        <p:spPr/>
        <p:txBody>
          <a:bodyPr/>
          <a:lstStyle/>
          <a:p>
            <a:r>
              <a:rPr lang="en-US"/>
              <a:t>Click to edit Master title style</a:t>
            </a:r>
            <a:endParaRPr lang="en-ZA"/>
          </a:p>
        </p:txBody>
      </p:sp>
      <p:sp>
        <p:nvSpPr>
          <p:cNvPr id="3" name="Content Placeholder 2">
            <a:extLst>
              <a:ext uri="{FF2B5EF4-FFF2-40B4-BE49-F238E27FC236}">
                <a16:creationId xmlns:a16="http://schemas.microsoft.com/office/drawing/2014/main" id="{50C59109-9550-583A-E2AF-0B874510FC5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Content Placeholder 3">
            <a:extLst>
              <a:ext uri="{FF2B5EF4-FFF2-40B4-BE49-F238E27FC236}">
                <a16:creationId xmlns:a16="http://schemas.microsoft.com/office/drawing/2014/main" id="{0239CED6-D8FE-1388-39CB-3A09051E88C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5" name="Date Placeholder 4">
            <a:extLst>
              <a:ext uri="{FF2B5EF4-FFF2-40B4-BE49-F238E27FC236}">
                <a16:creationId xmlns:a16="http://schemas.microsoft.com/office/drawing/2014/main" id="{E4AF52BB-06CC-B790-FBCF-9722C0213774}"/>
              </a:ext>
            </a:extLst>
          </p:cNvPr>
          <p:cNvSpPr>
            <a:spLocks noGrp="1"/>
          </p:cNvSpPr>
          <p:nvPr>
            <p:ph type="dt" sz="half" idx="10"/>
          </p:nvPr>
        </p:nvSpPr>
        <p:spPr/>
        <p:txBody>
          <a:bodyPr/>
          <a:lstStyle/>
          <a:p>
            <a:fld id="{A51F0EED-3C02-4325-891E-8B71C321773E}" type="datetimeFigureOut">
              <a:rPr lang="en-ZA" smtClean="0"/>
              <a:t>2026/08/31</a:t>
            </a:fld>
            <a:endParaRPr lang="en-ZA"/>
          </a:p>
        </p:txBody>
      </p:sp>
      <p:sp>
        <p:nvSpPr>
          <p:cNvPr id="6" name="Footer Placeholder 5">
            <a:extLst>
              <a:ext uri="{FF2B5EF4-FFF2-40B4-BE49-F238E27FC236}">
                <a16:creationId xmlns:a16="http://schemas.microsoft.com/office/drawing/2014/main" id="{25817D83-6BC8-1C84-7C10-D0DBA2333B19}"/>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7A25DB66-021D-8E65-0AFA-AD11CEAB6979}"/>
              </a:ext>
            </a:extLst>
          </p:cNvPr>
          <p:cNvSpPr>
            <a:spLocks noGrp="1"/>
          </p:cNvSpPr>
          <p:nvPr>
            <p:ph type="sldNum" sz="quarter" idx="12"/>
          </p:nvPr>
        </p:nvSpPr>
        <p:spPr/>
        <p:txBody>
          <a:bodyPr/>
          <a:lstStyle/>
          <a:p>
            <a:fld id="{CB46AC4C-D33D-457F-AA21-CB8D032D5EDA}" type="slidenum">
              <a:rPr lang="en-ZA" smtClean="0"/>
              <a:t>‹#›</a:t>
            </a:fld>
            <a:endParaRPr lang="en-ZA"/>
          </a:p>
        </p:txBody>
      </p:sp>
    </p:spTree>
    <p:extLst>
      <p:ext uri="{BB962C8B-B14F-4D97-AF65-F5344CB8AC3E}">
        <p14:creationId xmlns:p14="http://schemas.microsoft.com/office/powerpoint/2010/main" val="3167844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004DEF-22B1-DEE5-93D3-FD5D94C56A29}"/>
              </a:ext>
            </a:extLst>
          </p:cNvPr>
          <p:cNvSpPr>
            <a:spLocks noGrp="1"/>
          </p:cNvSpPr>
          <p:nvPr>
            <p:ph type="title"/>
          </p:nvPr>
        </p:nvSpPr>
        <p:spPr>
          <a:xfrm>
            <a:off x="839788" y="365125"/>
            <a:ext cx="10515600" cy="1325563"/>
          </a:xfrm>
        </p:spPr>
        <p:txBody>
          <a:bodyPr/>
          <a:lstStyle/>
          <a:p>
            <a:r>
              <a:rPr lang="en-US"/>
              <a:t>Click to edit Master title style</a:t>
            </a:r>
            <a:endParaRPr lang="en-ZA"/>
          </a:p>
        </p:txBody>
      </p:sp>
      <p:sp>
        <p:nvSpPr>
          <p:cNvPr id="3" name="Text Placeholder 2">
            <a:extLst>
              <a:ext uri="{FF2B5EF4-FFF2-40B4-BE49-F238E27FC236}">
                <a16:creationId xmlns:a16="http://schemas.microsoft.com/office/drawing/2014/main" id="{A0349B20-1FA7-4D23-8D89-97ED109000E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F6E357B-0521-3DC0-9E76-EEFEA7896E9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5" name="Text Placeholder 4">
            <a:extLst>
              <a:ext uri="{FF2B5EF4-FFF2-40B4-BE49-F238E27FC236}">
                <a16:creationId xmlns:a16="http://schemas.microsoft.com/office/drawing/2014/main" id="{59EBBD9A-7022-36D2-A3E8-498FE3ABE68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CF56B10-404C-2E3C-1EA8-9BD836D0C08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7" name="Date Placeholder 6">
            <a:extLst>
              <a:ext uri="{FF2B5EF4-FFF2-40B4-BE49-F238E27FC236}">
                <a16:creationId xmlns:a16="http://schemas.microsoft.com/office/drawing/2014/main" id="{17805BEB-15FA-D30C-8495-009A7C8BF9FC}"/>
              </a:ext>
            </a:extLst>
          </p:cNvPr>
          <p:cNvSpPr>
            <a:spLocks noGrp="1"/>
          </p:cNvSpPr>
          <p:nvPr>
            <p:ph type="dt" sz="half" idx="10"/>
          </p:nvPr>
        </p:nvSpPr>
        <p:spPr/>
        <p:txBody>
          <a:bodyPr/>
          <a:lstStyle/>
          <a:p>
            <a:fld id="{A51F0EED-3C02-4325-891E-8B71C321773E}" type="datetimeFigureOut">
              <a:rPr lang="en-ZA" smtClean="0"/>
              <a:t>2026/08/31</a:t>
            </a:fld>
            <a:endParaRPr lang="en-ZA"/>
          </a:p>
        </p:txBody>
      </p:sp>
      <p:sp>
        <p:nvSpPr>
          <p:cNvPr id="8" name="Footer Placeholder 7">
            <a:extLst>
              <a:ext uri="{FF2B5EF4-FFF2-40B4-BE49-F238E27FC236}">
                <a16:creationId xmlns:a16="http://schemas.microsoft.com/office/drawing/2014/main" id="{CB5D3F52-878D-9E4E-B95A-A572710A3682}"/>
              </a:ext>
            </a:extLst>
          </p:cNvPr>
          <p:cNvSpPr>
            <a:spLocks noGrp="1"/>
          </p:cNvSpPr>
          <p:nvPr>
            <p:ph type="ftr" sz="quarter" idx="11"/>
          </p:nvPr>
        </p:nvSpPr>
        <p:spPr/>
        <p:txBody>
          <a:bodyPr/>
          <a:lstStyle/>
          <a:p>
            <a:endParaRPr lang="en-ZA"/>
          </a:p>
        </p:txBody>
      </p:sp>
      <p:sp>
        <p:nvSpPr>
          <p:cNvPr id="9" name="Slide Number Placeholder 8">
            <a:extLst>
              <a:ext uri="{FF2B5EF4-FFF2-40B4-BE49-F238E27FC236}">
                <a16:creationId xmlns:a16="http://schemas.microsoft.com/office/drawing/2014/main" id="{A005C825-0A02-0EFA-67C8-668171776EFB}"/>
              </a:ext>
            </a:extLst>
          </p:cNvPr>
          <p:cNvSpPr>
            <a:spLocks noGrp="1"/>
          </p:cNvSpPr>
          <p:nvPr>
            <p:ph type="sldNum" sz="quarter" idx="12"/>
          </p:nvPr>
        </p:nvSpPr>
        <p:spPr/>
        <p:txBody>
          <a:bodyPr/>
          <a:lstStyle/>
          <a:p>
            <a:fld id="{CB46AC4C-D33D-457F-AA21-CB8D032D5EDA}" type="slidenum">
              <a:rPr lang="en-ZA" smtClean="0"/>
              <a:t>‹#›</a:t>
            </a:fld>
            <a:endParaRPr lang="en-ZA"/>
          </a:p>
        </p:txBody>
      </p:sp>
    </p:spTree>
    <p:extLst>
      <p:ext uri="{BB962C8B-B14F-4D97-AF65-F5344CB8AC3E}">
        <p14:creationId xmlns:p14="http://schemas.microsoft.com/office/powerpoint/2010/main" val="570717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D4EB8B-585B-13C0-DF25-36F9C16B4E85}"/>
              </a:ext>
            </a:extLst>
          </p:cNvPr>
          <p:cNvSpPr>
            <a:spLocks noGrp="1"/>
          </p:cNvSpPr>
          <p:nvPr>
            <p:ph type="title"/>
          </p:nvPr>
        </p:nvSpPr>
        <p:spPr/>
        <p:txBody>
          <a:bodyPr/>
          <a:lstStyle/>
          <a:p>
            <a:r>
              <a:rPr lang="en-US"/>
              <a:t>Click to edit Master title style</a:t>
            </a:r>
            <a:endParaRPr lang="en-ZA"/>
          </a:p>
        </p:txBody>
      </p:sp>
      <p:sp>
        <p:nvSpPr>
          <p:cNvPr id="3" name="Date Placeholder 2">
            <a:extLst>
              <a:ext uri="{FF2B5EF4-FFF2-40B4-BE49-F238E27FC236}">
                <a16:creationId xmlns:a16="http://schemas.microsoft.com/office/drawing/2014/main" id="{ADCF5116-A58F-A185-475A-E5519D0A21E3}"/>
              </a:ext>
            </a:extLst>
          </p:cNvPr>
          <p:cNvSpPr>
            <a:spLocks noGrp="1"/>
          </p:cNvSpPr>
          <p:nvPr>
            <p:ph type="dt" sz="half" idx="10"/>
          </p:nvPr>
        </p:nvSpPr>
        <p:spPr/>
        <p:txBody>
          <a:bodyPr/>
          <a:lstStyle/>
          <a:p>
            <a:fld id="{A51F0EED-3C02-4325-891E-8B71C321773E}" type="datetimeFigureOut">
              <a:rPr lang="en-ZA" smtClean="0"/>
              <a:t>2026/08/31</a:t>
            </a:fld>
            <a:endParaRPr lang="en-ZA"/>
          </a:p>
        </p:txBody>
      </p:sp>
      <p:sp>
        <p:nvSpPr>
          <p:cNvPr id="4" name="Footer Placeholder 3">
            <a:extLst>
              <a:ext uri="{FF2B5EF4-FFF2-40B4-BE49-F238E27FC236}">
                <a16:creationId xmlns:a16="http://schemas.microsoft.com/office/drawing/2014/main" id="{7E5382E1-163C-DEAA-1EE2-C20F942C0101}"/>
              </a:ext>
            </a:extLst>
          </p:cNvPr>
          <p:cNvSpPr>
            <a:spLocks noGrp="1"/>
          </p:cNvSpPr>
          <p:nvPr>
            <p:ph type="ftr" sz="quarter" idx="11"/>
          </p:nvPr>
        </p:nvSpPr>
        <p:spPr/>
        <p:txBody>
          <a:bodyPr/>
          <a:lstStyle/>
          <a:p>
            <a:endParaRPr lang="en-ZA"/>
          </a:p>
        </p:txBody>
      </p:sp>
      <p:sp>
        <p:nvSpPr>
          <p:cNvPr id="5" name="Slide Number Placeholder 4">
            <a:extLst>
              <a:ext uri="{FF2B5EF4-FFF2-40B4-BE49-F238E27FC236}">
                <a16:creationId xmlns:a16="http://schemas.microsoft.com/office/drawing/2014/main" id="{7BD396E4-7FA6-1AE7-7000-0549BF6590F4}"/>
              </a:ext>
            </a:extLst>
          </p:cNvPr>
          <p:cNvSpPr>
            <a:spLocks noGrp="1"/>
          </p:cNvSpPr>
          <p:nvPr>
            <p:ph type="sldNum" sz="quarter" idx="12"/>
          </p:nvPr>
        </p:nvSpPr>
        <p:spPr/>
        <p:txBody>
          <a:bodyPr/>
          <a:lstStyle/>
          <a:p>
            <a:fld id="{CB46AC4C-D33D-457F-AA21-CB8D032D5EDA}" type="slidenum">
              <a:rPr lang="en-ZA" smtClean="0"/>
              <a:t>‹#›</a:t>
            </a:fld>
            <a:endParaRPr lang="en-ZA"/>
          </a:p>
        </p:txBody>
      </p:sp>
    </p:spTree>
    <p:extLst>
      <p:ext uri="{BB962C8B-B14F-4D97-AF65-F5344CB8AC3E}">
        <p14:creationId xmlns:p14="http://schemas.microsoft.com/office/powerpoint/2010/main" val="16668455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ED7CC9D-08C0-6001-852E-DDB7D2DD31EF}"/>
              </a:ext>
            </a:extLst>
          </p:cNvPr>
          <p:cNvSpPr>
            <a:spLocks noGrp="1"/>
          </p:cNvSpPr>
          <p:nvPr>
            <p:ph type="dt" sz="half" idx="10"/>
          </p:nvPr>
        </p:nvSpPr>
        <p:spPr/>
        <p:txBody>
          <a:bodyPr/>
          <a:lstStyle/>
          <a:p>
            <a:fld id="{A51F0EED-3C02-4325-891E-8B71C321773E}" type="datetimeFigureOut">
              <a:rPr lang="en-ZA" smtClean="0"/>
              <a:t>2026/08/31</a:t>
            </a:fld>
            <a:endParaRPr lang="en-ZA"/>
          </a:p>
        </p:txBody>
      </p:sp>
      <p:sp>
        <p:nvSpPr>
          <p:cNvPr id="3" name="Footer Placeholder 2">
            <a:extLst>
              <a:ext uri="{FF2B5EF4-FFF2-40B4-BE49-F238E27FC236}">
                <a16:creationId xmlns:a16="http://schemas.microsoft.com/office/drawing/2014/main" id="{DDB6723C-E986-751D-C817-338AA9BD33EA}"/>
              </a:ext>
            </a:extLst>
          </p:cNvPr>
          <p:cNvSpPr>
            <a:spLocks noGrp="1"/>
          </p:cNvSpPr>
          <p:nvPr>
            <p:ph type="ftr" sz="quarter" idx="11"/>
          </p:nvPr>
        </p:nvSpPr>
        <p:spPr/>
        <p:txBody>
          <a:bodyPr/>
          <a:lstStyle/>
          <a:p>
            <a:endParaRPr lang="en-ZA"/>
          </a:p>
        </p:txBody>
      </p:sp>
      <p:sp>
        <p:nvSpPr>
          <p:cNvPr id="4" name="Slide Number Placeholder 3">
            <a:extLst>
              <a:ext uri="{FF2B5EF4-FFF2-40B4-BE49-F238E27FC236}">
                <a16:creationId xmlns:a16="http://schemas.microsoft.com/office/drawing/2014/main" id="{D2CB829D-10EB-57EB-7F11-B8674B0F9CE8}"/>
              </a:ext>
            </a:extLst>
          </p:cNvPr>
          <p:cNvSpPr>
            <a:spLocks noGrp="1"/>
          </p:cNvSpPr>
          <p:nvPr>
            <p:ph type="sldNum" sz="quarter" idx="12"/>
          </p:nvPr>
        </p:nvSpPr>
        <p:spPr/>
        <p:txBody>
          <a:bodyPr/>
          <a:lstStyle/>
          <a:p>
            <a:fld id="{CB46AC4C-D33D-457F-AA21-CB8D032D5EDA}" type="slidenum">
              <a:rPr lang="en-ZA" smtClean="0"/>
              <a:t>‹#›</a:t>
            </a:fld>
            <a:endParaRPr lang="en-ZA"/>
          </a:p>
        </p:txBody>
      </p:sp>
    </p:spTree>
    <p:extLst>
      <p:ext uri="{BB962C8B-B14F-4D97-AF65-F5344CB8AC3E}">
        <p14:creationId xmlns:p14="http://schemas.microsoft.com/office/powerpoint/2010/main" val="22641548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ACACE7-6CD7-A109-E7DC-B08FA93BEAF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ZA"/>
          </a:p>
        </p:txBody>
      </p:sp>
      <p:sp>
        <p:nvSpPr>
          <p:cNvPr id="3" name="Content Placeholder 2">
            <a:extLst>
              <a:ext uri="{FF2B5EF4-FFF2-40B4-BE49-F238E27FC236}">
                <a16:creationId xmlns:a16="http://schemas.microsoft.com/office/drawing/2014/main" id="{1B248495-E212-8C30-01CE-CFC8212BE39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Text Placeholder 3">
            <a:extLst>
              <a:ext uri="{FF2B5EF4-FFF2-40B4-BE49-F238E27FC236}">
                <a16:creationId xmlns:a16="http://schemas.microsoft.com/office/drawing/2014/main" id="{FAB20FF6-89C2-A9A9-EF64-C88EB69C7B1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A23ADF1-2979-DFF5-D59E-99BBC50981FC}"/>
              </a:ext>
            </a:extLst>
          </p:cNvPr>
          <p:cNvSpPr>
            <a:spLocks noGrp="1"/>
          </p:cNvSpPr>
          <p:nvPr>
            <p:ph type="dt" sz="half" idx="10"/>
          </p:nvPr>
        </p:nvSpPr>
        <p:spPr/>
        <p:txBody>
          <a:bodyPr/>
          <a:lstStyle/>
          <a:p>
            <a:fld id="{A51F0EED-3C02-4325-891E-8B71C321773E}" type="datetimeFigureOut">
              <a:rPr lang="en-ZA" smtClean="0"/>
              <a:t>2026/08/31</a:t>
            </a:fld>
            <a:endParaRPr lang="en-ZA"/>
          </a:p>
        </p:txBody>
      </p:sp>
      <p:sp>
        <p:nvSpPr>
          <p:cNvPr id="6" name="Footer Placeholder 5">
            <a:extLst>
              <a:ext uri="{FF2B5EF4-FFF2-40B4-BE49-F238E27FC236}">
                <a16:creationId xmlns:a16="http://schemas.microsoft.com/office/drawing/2014/main" id="{03A02AC0-ED4E-577D-68F8-F598FE93DBB5}"/>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5538A220-2723-3E53-62AC-ACDD390C2FE8}"/>
              </a:ext>
            </a:extLst>
          </p:cNvPr>
          <p:cNvSpPr>
            <a:spLocks noGrp="1"/>
          </p:cNvSpPr>
          <p:nvPr>
            <p:ph type="sldNum" sz="quarter" idx="12"/>
          </p:nvPr>
        </p:nvSpPr>
        <p:spPr/>
        <p:txBody>
          <a:bodyPr/>
          <a:lstStyle/>
          <a:p>
            <a:fld id="{CB46AC4C-D33D-457F-AA21-CB8D032D5EDA}" type="slidenum">
              <a:rPr lang="en-ZA" smtClean="0"/>
              <a:t>‹#›</a:t>
            </a:fld>
            <a:endParaRPr lang="en-ZA"/>
          </a:p>
        </p:txBody>
      </p:sp>
    </p:spTree>
    <p:extLst>
      <p:ext uri="{BB962C8B-B14F-4D97-AF65-F5344CB8AC3E}">
        <p14:creationId xmlns:p14="http://schemas.microsoft.com/office/powerpoint/2010/main" val="13160204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2FFA78-C82F-6479-F005-96FF96E62EF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ZA"/>
          </a:p>
        </p:txBody>
      </p:sp>
      <p:sp>
        <p:nvSpPr>
          <p:cNvPr id="3" name="Picture Placeholder 2">
            <a:extLst>
              <a:ext uri="{FF2B5EF4-FFF2-40B4-BE49-F238E27FC236}">
                <a16:creationId xmlns:a16="http://schemas.microsoft.com/office/drawing/2014/main" id="{4917A6A3-001E-F9B9-4E03-4FFF56DC167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ZA"/>
          </a:p>
        </p:txBody>
      </p:sp>
      <p:sp>
        <p:nvSpPr>
          <p:cNvPr id="4" name="Text Placeholder 3">
            <a:extLst>
              <a:ext uri="{FF2B5EF4-FFF2-40B4-BE49-F238E27FC236}">
                <a16:creationId xmlns:a16="http://schemas.microsoft.com/office/drawing/2014/main" id="{04F8EF08-1DE5-FE4D-38EB-CBF0C9942AB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D82C0EA-9CEE-08A0-040A-956BD877A915}"/>
              </a:ext>
            </a:extLst>
          </p:cNvPr>
          <p:cNvSpPr>
            <a:spLocks noGrp="1"/>
          </p:cNvSpPr>
          <p:nvPr>
            <p:ph type="dt" sz="half" idx="10"/>
          </p:nvPr>
        </p:nvSpPr>
        <p:spPr/>
        <p:txBody>
          <a:bodyPr/>
          <a:lstStyle/>
          <a:p>
            <a:fld id="{A51F0EED-3C02-4325-891E-8B71C321773E}" type="datetimeFigureOut">
              <a:rPr lang="en-ZA" smtClean="0"/>
              <a:t>2026/08/31</a:t>
            </a:fld>
            <a:endParaRPr lang="en-ZA"/>
          </a:p>
        </p:txBody>
      </p:sp>
      <p:sp>
        <p:nvSpPr>
          <p:cNvPr id="6" name="Footer Placeholder 5">
            <a:extLst>
              <a:ext uri="{FF2B5EF4-FFF2-40B4-BE49-F238E27FC236}">
                <a16:creationId xmlns:a16="http://schemas.microsoft.com/office/drawing/2014/main" id="{4270D706-9450-B740-8650-D59C9962F828}"/>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20342C75-F2F1-4E77-D732-4EEE08413361}"/>
              </a:ext>
            </a:extLst>
          </p:cNvPr>
          <p:cNvSpPr>
            <a:spLocks noGrp="1"/>
          </p:cNvSpPr>
          <p:nvPr>
            <p:ph type="sldNum" sz="quarter" idx="12"/>
          </p:nvPr>
        </p:nvSpPr>
        <p:spPr/>
        <p:txBody>
          <a:bodyPr/>
          <a:lstStyle/>
          <a:p>
            <a:fld id="{CB46AC4C-D33D-457F-AA21-CB8D032D5EDA}" type="slidenum">
              <a:rPr lang="en-ZA" smtClean="0"/>
              <a:t>‹#›</a:t>
            </a:fld>
            <a:endParaRPr lang="en-ZA"/>
          </a:p>
        </p:txBody>
      </p:sp>
    </p:spTree>
    <p:extLst>
      <p:ext uri="{BB962C8B-B14F-4D97-AF65-F5344CB8AC3E}">
        <p14:creationId xmlns:p14="http://schemas.microsoft.com/office/powerpoint/2010/main" val="17364505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6148F0-79A2-6060-E01A-A8A8BF33A4E1}"/>
              </a:ext>
            </a:extLst>
          </p:cNvPr>
          <p:cNvSpPr>
            <a:spLocks noGrp="1"/>
          </p:cNvSpPr>
          <p:nvPr>
            <p:ph type="title"/>
          </p:nvPr>
        </p:nvSpPr>
        <p:spPr/>
        <p:txBody>
          <a:bodyPr/>
          <a:lstStyle/>
          <a:p>
            <a:r>
              <a:rPr lang="en-US"/>
              <a:t>Click to edit Master title style</a:t>
            </a:r>
            <a:endParaRPr lang="en-ZA"/>
          </a:p>
        </p:txBody>
      </p:sp>
      <p:sp>
        <p:nvSpPr>
          <p:cNvPr id="3" name="Vertical Text Placeholder 2">
            <a:extLst>
              <a:ext uri="{FF2B5EF4-FFF2-40B4-BE49-F238E27FC236}">
                <a16:creationId xmlns:a16="http://schemas.microsoft.com/office/drawing/2014/main" id="{9D942D4B-9621-DA38-87FA-128E99B9744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66568876-B1F7-092D-D598-A1B4A663B8FD}"/>
              </a:ext>
            </a:extLst>
          </p:cNvPr>
          <p:cNvSpPr>
            <a:spLocks noGrp="1"/>
          </p:cNvSpPr>
          <p:nvPr>
            <p:ph type="dt" sz="half" idx="10"/>
          </p:nvPr>
        </p:nvSpPr>
        <p:spPr/>
        <p:txBody>
          <a:bodyPr/>
          <a:lstStyle/>
          <a:p>
            <a:fld id="{A51F0EED-3C02-4325-891E-8B71C321773E}" type="datetimeFigureOut">
              <a:rPr lang="en-ZA" smtClean="0"/>
              <a:t>2026/08/31</a:t>
            </a:fld>
            <a:endParaRPr lang="en-ZA"/>
          </a:p>
        </p:txBody>
      </p:sp>
      <p:sp>
        <p:nvSpPr>
          <p:cNvPr id="5" name="Footer Placeholder 4">
            <a:extLst>
              <a:ext uri="{FF2B5EF4-FFF2-40B4-BE49-F238E27FC236}">
                <a16:creationId xmlns:a16="http://schemas.microsoft.com/office/drawing/2014/main" id="{B8373373-0D2C-6B32-E558-151C24E0BB65}"/>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1A1B1B6D-0EEA-604C-B5F7-6CD0C0D0BDEC}"/>
              </a:ext>
            </a:extLst>
          </p:cNvPr>
          <p:cNvSpPr>
            <a:spLocks noGrp="1"/>
          </p:cNvSpPr>
          <p:nvPr>
            <p:ph type="sldNum" sz="quarter" idx="12"/>
          </p:nvPr>
        </p:nvSpPr>
        <p:spPr/>
        <p:txBody>
          <a:bodyPr/>
          <a:lstStyle/>
          <a:p>
            <a:fld id="{CB46AC4C-D33D-457F-AA21-CB8D032D5EDA}" type="slidenum">
              <a:rPr lang="en-ZA" smtClean="0"/>
              <a:t>‹#›</a:t>
            </a:fld>
            <a:endParaRPr lang="en-ZA"/>
          </a:p>
        </p:txBody>
      </p:sp>
    </p:spTree>
    <p:extLst>
      <p:ext uri="{BB962C8B-B14F-4D97-AF65-F5344CB8AC3E}">
        <p14:creationId xmlns:p14="http://schemas.microsoft.com/office/powerpoint/2010/main" val="36723879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E137E34-3EE7-88B0-F19C-651134720DA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ZA"/>
          </a:p>
        </p:txBody>
      </p:sp>
      <p:sp>
        <p:nvSpPr>
          <p:cNvPr id="3" name="Vertical Text Placeholder 2">
            <a:extLst>
              <a:ext uri="{FF2B5EF4-FFF2-40B4-BE49-F238E27FC236}">
                <a16:creationId xmlns:a16="http://schemas.microsoft.com/office/drawing/2014/main" id="{C1B71CAC-2170-141F-5ED7-C0A539DA6D1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FC97AA97-EAAA-D0CD-5C2A-146A473D2C6F}"/>
              </a:ext>
            </a:extLst>
          </p:cNvPr>
          <p:cNvSpPr>
            <a:spLocks noGrp="1"/>
          </p:cNvSpPr>
          <p:nvPr>
            <p:ph type="dt" sz="half" idx="10"/>
          </p:nvPr>
        </p:nvSpPr>
        <p:spPr/>
        <p:txBody>
          <a:bodyPr/>
          <a:lstStyle/>
          <a:p>
            <a:fld id="{A51F0EED-3C02-4325-891E-8B71C321773E}" type="datetimeFigureOut">
              <a:rPr lang="en-ZA" smtClean="0"/>
              <a:t>2026/08/31</a:t>
            </a:fld>
            <a:endParaRPr lang="en-ZA"/>
          </a:p>
        </p:txBody>
      </p:sp>
      <p:sp>
        <p:nvSpPr>
          <p:cNvPr id="5" name="Footer Placeholder 4">
            <a:extLst>
              <a:ext uri="{FF2B5EF4-FFF2-40B4-BE49-F238E27FC236}">
                <a16:creationId xmlns:a16="http://schemas.microsoft.com/office/drawing/2014/main" id="{8F412C7A-19DF-2E61-AD42-C14C390969AD}"/>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510AABBF-71CB-0635-820D-C4A7DE408BC1}"/>
              </a:ext>
            </a:extLst>
          </p:cNvPr>
          <p:cNvSpPr>
            <a:spLocks noGrp="1"/>
          </p:cNvSpPr>
          <p:nvPr>
            <p:ph type="sldNum" sz="quarter" idx="12"/>
          </p:nvPr>
        </p:nvSpPr>
        <p:spPr/>
        <p:txBody>
          <a:bodyPr/>
          <a:lstStyle/>
          <a:p>
            <a:fld id="{CB46AC4C-D33D-457F-AA21-CB8D032D5EDA}" type="slidenum">
              <a:rPr lang="en-ZA" smtClean="0"/>
              <a:t>‹#›</a:t>
            </a:fld>
            <a:endParaRPr lang="en-ZA"/>
          </a:p>
        </p:txBody>
      </p:sp>
    </p:spTree>
    <p:extLst>
      <p:ext uri="{BB962C8B-B14F-4D97-AF65-F5344CB8AC3E}">
        <p14:creationId xmlns:p14="http://schemas.microsoft.com/office/powerpoint/2010/main" val="7004698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9D1510A-D079-A75F-9301-58480EC9EAB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ZA"/>
          </a:p>
        </p:txBody>
      </p:sp>
      <p:sp>
        <p:nvSpPr>
          <p:cNvPr id="3" name="Text Placeholder 2">
            <a:extLst>
              <a:ext uri="{FF2B5EF4-FFF2-40B4-BE49-F238E27FC236}">
                <a16:creationId xmlns:a16="http://schemas.microsoft.com/office/drawing/2014/main" id="{A829FBE8-2AA6-5147-D609-EBEC61CE6CE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3D52D474-4646-9431-FF30-BA5470B287D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51F0EED-3C02-4325-891E-8B71C321773E}" type="datetimeFigureOut">
              <a:rPr lang="en-ZA" smtClean="0"/>
              <a:t>2026/08/31</a:t>
            </a:fld>
            <a:endParaRPr lang="en-ZA"/>
          </a:p>
        </p:txBody>
      </p:sp>
      <p:sp>
        <p:nvSpPr>
          <p:cNvPr id="5" name="Footer Placeholder 4">
            <a:extLst>
              <a:ext uri="{FF2B5EF4-FFF2-40B4-BE49-F238E27FC236}">
                <a16:creationId xmlns:a16="http://schemas.microsoft.com/office/drawing/2014/main" id="{596BB021-5BFD-D93B-896C-496D1E45D74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ZA"/>
          </a:p>
        </p:txBody>
      </p:sp>
      <p:sp>
        <p:nvSpPr>
          <p:cNvPr id="6" name="Slide Number Placeholder 5">
            <a:extLst>
              <a:ext uri="{FF2B5EF4-FFF2-40B4-BE49-F238E27FC236}">
                <a16:creationId xmlns:a16="http://schemas.microsoft.com/office/drawing/2014/main" id="{C5A5A54F-07C0-1545-A88A-5F7B120AE51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B46AC4C-D33D-457F-AA21-CB8D032D5EDA}" type="slidenum">
              <a:rPr lang="en-ZA" smtClean="0"/>
              <a:t>‹#›</a:t>
            </a:fld>
            <a:endParaRPr lang="en-ZA"/>
          </a:p>
        </p:txBody>
      </p:sp>
    </p:spTree>
    <p:extLst>
      <p:ext uri="{BB962C8B-B14F-4D97-AF65-F5344CB8AC3E}">
        <p14:creationId xmlns:p14="http://schemas.microsoft.com/office/powerpoint/2010/main" val="217850415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9">
            <a:extLst>
              <a:ext uri="{FF2B5EF4-FFF2-40B4-BE49-F238E27FC236}">
                <a16:creationId xmlns:a16="http://schemas.microsoft.com/office/drawing/2014/main" id="{9203DE33-2CD4-4CA8-9AF3-37C3B65133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1">
            <a:extLst>
              <a:ext uri="{FF2B5EF4-FFF2-40B4-BE49-F238E27FC236}">
                <a16:creationId xmlns:a16="http://schemas.microsoft.com/office/drawing/2014/main" id="{0AF57B88-1D4C-41FA-A761-EC1DD10C35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1100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Rectangle 13">
            <a:extLst>
              <a:ext uri="{FF2B5EF4-FFF2-40B4-BE49-F238E27FC236}">
                <a16:creationId xmlns:a16="http://schemas.microsoft.com/office/drawing/2014/main" id="{D2548F45-5164-4ABB-8212-7F293FDED8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9565" y="2659404"/>
            <a:ext cx="4355594" cy="4040742"/>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close up of a human head&#10;&#10;Description automatically generated">
            <a:extLst>
              <a:ext uri="{FF2B5EF4-FFF2-40B4-BE49-F238E27FC236}">
                <a16:creationId xmlns:a16="http://schemas.microsoft.com/office/drawing/2014/main" id="{DA57BBE1-542E-052B-DA1D-B45564FB1598}"/>
              </a:ext>
            </a:extLst>
          </p:cNvPr>
          <p:cNvPicPr>
            <a:picLocks noChangeAspect="1"/>
          </p:cNvPicPr>
          <p:nvPr/>
        </p:nvPicPr>
        <p:blipFill rotWithShape="1">
          <a:blip r:embed="rId2">
            <a:extLst>
              <a:ext uri="{28A0092B-C50C-407E-A947-70E740481C1C}">
                <a14:useLocalDpi xmlns:a14="http://schemas.microsoft.com/office/drawing/2010/main" val="0"/>
              </a:ext>
            </a:extLst>
          </a:blip>
          <a:srcRect l="7294" r="13489"/>
          <a:stretch/>
        </p:blipFill>
        <p:spPr>
          <a:xfrm>
            <a:off x="4038599" y="10"/>
            <a:ext cx="8160026" cy="6875809"/>
          </a:xfrm>
          <a:prstGeom prst="rect">
            <a:avLst/>
          </a:prstGeom>
        </p:spPr>
      </p:pic>
      <p:sp>
        <p:nvSpPr>
          <p:cNvPr id="21" name="Freeform: Shape 15">
            <a:extLst>
              <a:ext uri="{FF2B5EF4-FFF2-40B4-BE49-F238E27FC236}">
                <a16:creationId xmlns:a16="http://schemas.microsoft.com/office/drawing/2014/main" id="{5E81CCFB-7BEF-4186-86FB-D09450B4D0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194E8106-9621-9E0A-4EC1-53CB3AA5EDBD}"/>
              </a:ext>
            </a:extLst>
          </p:cNvPr>
          <p:cNvSpPr>
            <a:spLocks noGrp="1"/>
          </p:cNvSpPr>
          <p:nvPr>
            <p:ph type="ctrTitle"/>
          </p:nvPr>
        </p:nvSpPr>
        <p:spPr>
          <a:xfrm>
            <a:off x="534473" y="2950387"/>
            <a:ext cx="3052293" cy="3531403"/>
          </a:xfrm>
        </p:spPr>
        <p:txBody>
          <a:bodyPr anchor="t">
            <a:normAutofit/>
          </a:bodyPr>
          <a:lstStyle/>
          <a:p>
            <a:pPr algn="r"/>
            <a:r>
              <a:rPr lang="en-ZA" sz="4000" dirty="0">
                <a:solidFill>
                  <a:srgbClr val="FFFFFF"/>
                </a:solidFill>
              </a:rPr>
              <a:t>SATNAC 2026 INDUSTRY SOLUTIONS CHALLENGE</a:t>
            </a:r>
          </a:p>
        </p:txBody>
      </p:sp>
    </p:spTree>
    <p:extLst>
      <p:ext uri="{BB962C8B-B14F-4D97-AF65-F5344CB8AC3E}">
        <p14:creationId xmlns:p14="http://schemas.microsoft.com/office/powerpoint/2010/main" val="28359309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BD9DA8C-91E5-7298-AE5B-56228C0112DF}"/>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8B6E83F9-9C66-3AB9-14A1-A00BD35C58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93C91FA5-8478-3E85-3664-C073FA960A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75012691-8A5A-E48E-E3AB-C33DAB6826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Rectangle 16">
            <a:extLst>
              <a:ext uri="{FF2B5EF4-FFF2-40B4-BE49-F238E27FC236}">
                <a16:creationId xmlns:a16="http://schemas.microsoft.com/office/drawing/2014/main" id="{25B3F3FD-44CF-E019-DA5B-9033BB6F40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88580CAF-BF1D-A23E-C6FC-39E8EFB91C51}"/>
              </a:ext>
            </a:extLst>
          </p:cNvPr>
          <p:cNvSpPr>
            <a:spLocks noGrp="1"/>
          </p:cNvSpPr>
          <p:nvPr>
            <p:ph type="title"/>
          </p:nvPr>
        </p:nvSpPr>
        <p:spPr>
          <a:xfrm>
            <a:off x="329184" y="466978"/>
            <a:ext cx="11821549" cy="932054"/>
          </a:xfrm>
        </p:spPr>
        <p:txBody>
          <a:bodyPr anchor="ctr">
            <a:noAutofit/>
          </a:bodyPr>
          <a:lstStyle/>
          <a:p>
            <a:r>
              <a:rPr lang="en-ZA" sz="3600" dirty="0">
                <a:solidFill>
                  <a:srgbClr val="FFFFFF"/>
                </a:solidFill>
              </a:rPr>
              <a:t>TELKOM TOPIC 1: SYNOPSIS - </a:t>
            </a:r>
            <a:r>
              <a:rPr lang="en-ZA" sz="3600" b="1" dirty="0">
                <a:solidFill>
                  <a:schemeClr val="bg1"/>
                </a:solidFill>
              </a:rPr>
              <a:t>AI-Enabled Intelligent Connectivity and Next-Generation Networks </a:t>
            </a:r>
            <a:br>
              <a:rPr lang="en-ZA" sz="3600" dirty="0">
                <a:solidFill>
                  <a:schemeClr val="bg1"/>
                </a:solidFill>
              </a:rPr>
            </a:br>
            <a:endParaRPr lang="en-ZA" sz="3600" dirty="0">
              <a:solidFill>
                <a:schemeClr val="bg1"/>
              </a:solidFill>
            </a:endParaRPr>
          </a:p>
        </p:txBody>
      </p:sp>
      <p:sp>
        <p:nvSpPr>
          <p:cNvPr id="3" name="Content Placeholder 2">
            <a:extLst>
              <a:ext uri="{FF2B5EF4-FFF2-40B4-BE49-F238E27FC236}">
                <a16:creationId xmlns:a16="http://schemas.microsoft.com/office/drawing/2014/main" id="{C9AAA48F-6EA9-5AA2-B116-FEC2691046B9}"/>
              </a:ext>
            </a:extLst>
          </p:cNvPr>
          <p:cNvSpPr>
            <a:spLocks/>
          </p:cNvSpPr>
          <p:nvPr/>
        </p:nvSpPr>
        <p:spPr>
          <a:xfrm>
            <a:off x="0" y="1939668"/>
            <a:ext cx="9154486" cy="4278448"/>
          </a:xfrm>
          <a:prstGeom prst="rect">
            <a:avLst/>
          </a:prstGeom>
        </p:spPr>
        <p:txBody>
          <a:bodyPr>
            <a:noAutofit/>
          </a:bodyPr>
          <a:lstStyle/>
          <a:p>
            <a:r>
              <a:rPr lang="en-ZA" sz="1400" b="1" dirty="0">
                <a:solidFill>
                  <a:srgbClr val="0070C0"/>
                </a:solidFill>
              </a:rPr>
              <a:t>How can AI-based surrogate modelling be used to predict LTE RSRP(Reference Signal Received Power) network coverage near real time, reducing the time and computational cost of ray-tracing-based coverage generation while enabling integration with Network </a:t>
            </a:r>
            <a:r>
              <a:rPr lang="en-ZA" sz="1400" b="1" dirty="0" err="1">
                <a:solidFill>
                  <a:srgbClr val="0070C0"/>
                </a:solidFill>
              </a:rPr>
              <a:t>Perfomance</a:t>
            </a:r>
            <a:r>
              <a:rPr lang="en-ZA" sz="1400" b="1" dirty="0">
                <a:solidFill>
                  <a:srgbClr val="0070C0"/>
                </a:solidFill>
              </a:rPr>
              <a:t> and AI-agent solutions?</a:t>
            </a:r>
          </a:p>
          <a:p>
            <a:endParaRPr lang="en-ZA" sz="1200" dirty="0"/>
          </a:p>
          <a:p>
            <a:pPr algn="just"/>
            <a:r>
              <a:rPr lang="en-ZA" sz="1300" b="1" dirty="0"/>
              <a:t>Accurate radio coverage information is an important input to Network Performance Management (NPM), network optimisation and planning. However, the current process of generating coverage using physics-based propagation and ray-tracing models can be computationally intensive and time-consuming, particularly when coverage needs to be regenerated following network changes or when more dynamic coverage information is required.</a:t>
            </a:r>
          </a:p>
          <a:p>
            <a:endParaRPr lang="en-ZA" sz="1200" dirty="0"/>
          </a:p>
          <a:p>
            <a:r>
              <a:rPr lang="en-ZA" sz="1300" dirty="0"/>
              <a:t>This creates an opportunity to use AI to develop a surrogate model that learns from existing ray-tracing outputs and relevant network, terrain and South African clutter/environmental data to predict LTE RSRP coverage significantly faster.</a:t>
            </a:r>
          </a:p>
          <a:p>
            <a:endParaRPr lang="en-ZA" sz="1300" dirty="0"/>
          </a:p>
          <a:p>
            <a:r>
              <a:rPr lang="en-ZA" sz="1300" dirty="0"/>
              <a:t>The objective is to investigate whether such a model can provide sufficiently accurate coverage predictions while substantially reducing the time and computational resources required by the current process. </a:t>
            </a:r>
          </a:p>
          <a:p>
            <a:r>
              <a:rPr lang="en-ZA" sz="1300" dirty="0"/>
              <a:t>A successful solution should demonstrate the potential to move from periodic, computationally intensive coverage generation towards near-real-time coverage prediction, making coverage information easier to integrate into NPM platforms and AI-agent solutions.</a:t>
            </a:r>
          </a:p>
          <a:p>
            <a:endParaRPr lang="en-ZA" sz="1200" dirty="0"/>
          </a:p>
        </p:txBody>
      </p:sp>
      <p:sp>
        <p:nvSpPr>
          <p:cNvPr id="5" name="TextBox 4">
            <a:extLst>
              <a:ext uri="{FF2B5EF4-FFF2-40B4-BE49-F238E27FC236}">
                <a16:creationId xmlns:a16="http://schemas.microsoft.com/office/drawing/2014/main" id="{4B63B909-3183-4F79-3BC4-6F267069EE91}"/>
              </a:ext>
            </a:extLst>
          </p:cNvPr>
          <p:cNvSpPr txBox="1"/>
          <p:nvPr/>
        </p:nvSpPr>
        <p:spPr>
          <a:xfrm>
            <a:off x="123725" y="1573825"/>
            <a:ext cx="11714053" cy="369332"/>
          </a:xfrm>
          <a:prstGeom prst="rect">
            <a:avLst/>
          </a:prstGeom>
          <a:noFill/>
        </p:spPr>
        <p:txBody>
          <a:bodyPr wrap="square" rtlCol="0">
            <a:spAutoFit/>
          </a:bodyPr>
          <a:lstStyle/>
          <a:p>
            <a:pPr marL="0" marR="0" lvl="0" indent="0" algn="l" defTabSz="649224" rtl="0" eaLnBrk="1" fontAlgn="auto" latinLnBrk="0" hangingPunct="1">
              <a:lnSpc>
                <a:spcPct val="100000"/>
              </a:lnSpc>
              <a:spcBef>
                <a:spcPts val="0"/>
              </a:spcBef>
              <a:spcAft>
                <a:spcPts val="600"/>
              </a:spcAft>
              <a:buClrTx/>
              <a:buSzTx/>
              <a:buFontTx/>
              <a:buNone/>
              <a:tabLst/>
              <a:defRPr/>
            </a:pPr>
            <a:r>
              <a:rPr lang="en-ZA" b="1" dirty="0">
                <a:solidFill>
                  <a:prstClr val="black"/>
                </a:solidFill>
                <a:latin typeface="Calibri" panose="020F0502020204030204"/>
              </a:rPr>
              <a:t>I</a:t>
            </a:r>
            <a:r>
              <a:rPr kumimoji="0" lang="en-ZA" sz="1800" b="1" i="0" u="none" strike="noStrike" kern="1200" cap="none" spc="0" normalizeH="0" baseline="0" noProof="0" dirty="0" err="1">
                <a:ln>
                  <a:noFill/>
                </a:ln>
                <a:solidFill>
                  <a:prstClr val="black"/>
                </a:solidFill>
                <a:effectLst/>
                <a:uLnTx/>
                <a:uFillTx/>
                <a:latin typeface="Calibri" panose="020F0502020204030204"/>
                <a:ea typeface="+mn-ea"/>
                <a:cs typeface="+mn-cs"/>
              </a:rPr>
              <a:t>ntelligent</a:t>
            </a:r>
            <a:r>
              <a:rPr kumimoji="0" lang="en-ZA" sz="1800" b="1" i="0" u="none" strike="noStrike" kern="1200" cap="none" spc="0" normalizeH="0" baseline="0" noProof="0" dirty="0">
                <a:ln>
                  <a:noFill/>
                </a:ln>
                <a:solidFill>
                  <a:prstClr val="black"/>
                </a:solidFill>
                <a:effectLst/>
                <a:uLnTx/>
                <a:uFillTx/>
                <a:latin typeface="Calibri" panose="020F0502020204030204"/>
                <a:ea typeface="+mn-ea"/>
                <a:cs typeface="+mn-cs"/>
              </a:rPr>
              <a:t> communication networks that improve performance, automation, resilience and customer experience.</a:t>
            </a:r>
            <a:endParaRPr kumimoji="0" lang="en-ZA" sz="1800" b="1" i="1"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4" name="Picture 3" descr="A computer network around the earth&#10;&#10;Description automatically generated">
            <a:extLst>
              <a:ext uri="{FF2B5EF4-FFF2-40B4-BE49-F238E27FC236}">
                <a16:creationId xmlns:a16="http://schemas.microsoft.com/office/drawing/2014/main" id="{2EE6A547-FA5C-1717-DDC7-007DE34AEB3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13219" y="2042933"/>
            <a:ext cx="3037514" cy="1885145"/>
          </a:xfrm>
          <a:prstGeom prst="rect">
            <a:avLst/>
          </a:prstGeom>
        </p:spPr>
      </p:pic>
      <p:pic>
        <p:nvPicPr>
          <p:cNvPr id="8" name="Picture 7" descr="A blue rectangular sign with white text&#10;&#10;Description automatically generated">
            <a:extLst>
              <a:ext uri="{FF2B5EF4-FFF2-40B4-BE49-F238E27FC236}">
                <a16:creationId xmlns:a16="http://schemas.microsoft.com/office/drawing/2014/main" id="{C1C1D164-6A8D-99C3-BEB4-6F7F3B14963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26" y="6218116"/>
            <a:ext cx="1044000" cy="592470"/>
          </a:xfrm>
          <a:prstGeom prst="rect">
            <a:avLst/>
          </a:prstGeom>
        </p:spPr>
      </p:pic>
      <p:pic>
        <p:nvPicPr>
          <p:cNvPr id="9" name="Picture 8">
            <a:extLst>
              <a:ext uri="{FF2B5EF4-FFF2-40B4-BE49-F238E27FC236}">
                <a16:creationId xmlns:a16="http://schemas.microsoft.com/office/drawing/2014/main" id="{3EF6F8EC-9518-E753-9928-B1DECAB3A37C}"/>
              </a:ext>
            </a:extLst>
          </p:cNvPr>
          <p:cNvPicPr>
            <a:picLocks noChangeAspect="1"/>
          </p:cNvPicPr>
          <p:nvPr/>
        </p:nvPicPr>
        <p:blipFill>
          <a:blip r:embed="rId4"/>
          <a:stretch>
            <a:fillRect/>
          </a:stretch>
        </p:blipFill>
        <p:spPr>
          <a:xfrm>
            <a:off x="10930019" y="6570460"/>
            <a:ext cx="1261981" cy="249958"/>
          </a:xfrm>
          <a:prstGeom prst="rect">
            <a:avLst/>
          </a:prstGeom>
        </p:spPr>
      </p:pic>
    </p:spTree>
    <p:extLst>
      <p:ext uri="{BB962C8B-B14F-4D97-AF65-F5344CB8AC3E}">
        <p14:creationId xmlns:p14="http://schemas.microsoft.com/office/powerpoint/2010/main" val="9289179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7FD98F97-B42F-57D7-7690-7EFD1B1067CA}"/>
              </a:ext>
            </a:extLst>
          </p:cNvPr>
          <p:cNvSpPr>
            <a:spLocks noGrp="1"/>
          </p:cNvSpPr>
          <p:nvPr>
            <p:ph type="title"/>
          </p:nvPr>
        </p:nvSpPr>
        <p:spPr>
          <a:xfrm>
            <a:off x="1371597" y="348865"/>
            <a:ext cx="10044023" cy="877729"/>
          </a:xfrm>
        </p:spPr>
        <p:txBody>
          <a:bodyPr anchor="ctr">
            <a:normAutofit/>
          </a:bodyPr>
          <a:lstStyle/>
          <a:p>
            <a:r>
              <a:rPr lang="en-ZA" sz="3600" dirty="0">
                <a:solidFill>
                  <a:srgbClr val="FFFFFF"/>
                </a:solidFill>
              </a:rPr>
              <a:t>TOPIC 1: SOLUTION REQUIREMENTS</a:t>
            </a:r>
          </a:p>
        </p:txBody>
      </p:sp>
      <p:sp>
        <p:nvSpPr>
          <p:cNvPr id="3" name="Content Placeholder 2">
            <a:extLst>
              <a:ext uri="{FF2B5EF4-FFF2-40B4-BE49-F238E27FC236}">
                <a16:creationId xmlns:a16="http://schemas.microsoft.com/office/drawing/2014/main" id="{C7BC127B-C41D-9990-F1F6-781F467E0547}"/>
              </a:ext>
            </a:extLst>
          </p:cNvPr>
          <p:cNvSpPr>
            <a:spLocks/>
          </p:cNvSpPr>
          <p:nvPr/>
        </p:nvSpPr>
        <p:spPr>
          <a:xfrm>
            <a:off x="229828" y="1924820"/>
            <a:ext cx="10069423" cy="3932760"/>
          </a:xfrm>
          <a:prstGeom prst="rect">
            <a:avLst/>
          </a:prstGeom>
        </p:spPr>
        <p:txBody>
          <a:bodyPr>
            <a:normAutofit/>
          </a:bodyPr>
          <a:lstStyle/>
          <a:p>
            <a:pPr algn="just" defTabSz="649224">
              <a:spcAft>
                <a:spcPts val="600"/>
              </a:spcAft>
            </a:pPr>
            <a:r>
              <a:rPr lang="en-ZA" sz="1300" b="1" kern="1200" dirty="0">
                <a:solidFill>
                  <a:schemeClr val="tx1"/>
                </a:solidFill>
                <a:latin typeface="+mn-lt"/>
                <a:ea typeface="+mn-ea"/>
                <a:cs typeface="+mn-cs"/>
              </a:rPr>
              <a:t>The solution should enable practical use cases such as rapidly assessing coverage changes resulting from network configuration changes, site outages or optimisation interventions:</a:t>
            </a:r>
          </a:p>
          <a:p>
            <a:pPr algn="just" defTabSz="649224">
              <a:spcAft>
                <a:spcPts val="600"/>
              </a:spcAft>
            </a:pPr>
            <a:endParaRPr lang="en-ZA" sz="1200" b="1" kern="1200" dirty="0">
              <a:solidFill>
                <a:schemeClr val="tx1"/>
              </a:solidFill>
              <a:latin typeface="+mn-lt"/>
              <a:ea typeface="+mn-ea"/>
              <a:cs typeface="+mn-cs"/>
            </a:endParaRPr>
          </a:p>
          <a:p>
            <a:pPr marL="285750" lvl="0" indent="-285750">
              <a:lnSpc>
                <a:spcPct val="150000"/>
              </a:lnSpc>
              <a:buFont typeface="Wingdings" panose="05000000000000000000" pitchFamily="2" charset="2"/>
              <a:buChar char="§"/>
            </a:pPr>
            <a:r>
              <a:rPr lang="en-ZA" sz="1200" dirty="0"/>
              <a:t>Develop a working proof of concept for AI-based LTE RSRP coverage prediction.</a:t>
            </a:r>
          </a:p>
          <a:p>
            <a:pPr marL="285750" lvl="0" indent="-285750">
              <a:lnSpc>
                <a:spcPct val="150000"/>
              </a:lnSpc>
              <a:buFont typeface="Wingdings" panose="05000000000000000000" pitchFamily="2" charset="2"/>
              <a:buChar char="§"/>
            </a:pPr>
            <a:r>
              <a:rPr lang="en-ZA" sz="1200" dirty="0"/>
              <a:t>Use existing physics-based/ray-tracing coverage outputs as reference data for training and evaluation.</a:t>
            </a:r>
          </a:p>
          <a:p>
            <a:pPr marL="285750" lvl="0" indent="-285750">
              <a:lnSpc>
                <a:spcPct val="150000"/>
              </a:lnSpc>
              <a:buFont typeface="Wingdings" panose="05000000000000000000" pitchFamily="2" charset="2"/>
              <a:buChar char="§"/>
            </a:pPr>
            <a:r>
              <a:rPr lang="en-ZA" sz="1200" dirty="0"/>
              <a:t>Use of available or new theories </a:t>
            </a:r>
          </a:p>
          <a:p>
            <a:pPr marL="285750" lvl="0" indent="-285750">
              <a:lnSpc>
                <a:spcPct val="150000"/>
              </a:lnSpc>
              <a:buFont typeface="Wingdings" panose="05000000000000000000" pitchFamily="2" charset="2"/>
              <a:buChar char="§"/>
            </a:pPr>
            <a:r>
              <a:rPr lang="en-ZA" sz="1200" dirty="0"/>
              <a:t>Incorporate relevant LTE network parameters, terrain and South African clutter/environmental characteristics.</a:t>
            </a:r>
          </a:p>
          <a:p>
            <a:pPr marL="285750" lvl="0" indent="-285750">
              <a:lnSpc>
                <a:spcPct val="150000"/>
              </a:lnSpc>
              <a:buFont typeface="Wingdings" panose="05000000000000000000" pitchFamily="2" charset="2"/>
              <a:buChar char="§"/>
            </a:pPr>
            <a:r>
              <a:rPr lang="en-ZA" sz="1200" dirty="0"/>
              <a:t>Demonstrate acceptable prediction accuracy against the existing ray-tracing model.</a:t>
            </a:r>
          </a:p>
          <a:p>
            <a:pPr marL="285750" lvl="0" indent="-285750">
              <a:lnSpc>
                <a:spcPct val="150000"/>
              </a:lnSpc>
              <a:buFont typeface="Wingdings" panose="05000000000000000000" pitchFamily="2" charset="2"/>
              <a:buChar char="§"/>
            </a:pPr>
            <a:r>
              <a:rPr lang="en-ZA" sz="1200" dirty="0"/>
              <a:t>Demonstrate a significant reduction in prediction time and computational resource requirements compared with the current coverage-generation process.</a:t>
            </a:r>
          </a:p>
          <a:p>
            <a:pPr marL="285750" lvl="0" indent="-285750">
              <a:lnSpc>
                <a:spcPct val="150000"/>
              </a:lnSpc>
              <a:buFont typeface="Wingdings" panose="05000000000000000000" pitchFamily="2" charset="2"/>
              <a:buChar char="§"/>
            </a:pPr>
            <a:r>
              <a:rPr lang="en-ZA" sz="1200" dirty="0"/>
              <a:t>Produce coverage outputs in a usable, standardised format that can support existing coverage analysis and visualisation workflows.</a:t>
            </a:r>
          </a:p>
          <a:p>
            <a:pPr marL="285750" lvl="0" indent="-285750">
              <a:lnSpc>
                <a:spcPct val="150000"/>
              </a:lnSpc>
              <a:buFont typeface="Wingdings" panose="05000000000000000000" pitchFamily="2" charset="2"/>
              <a:buChar char="§"/>
            </a:pPr>
            <a:r>
              <a:rPr lang="en-ZA" sz="1200" dirty="0"/>
              <a:t>Demonstrate at least one practical scenario, such as rapidly assessing the coverage impact of a site outage or network configuration change.</a:t>
            </a:r>
          </a:p>
          <a:p>
            <a:pPr marL="285750" lvl="0" indent="-285750">
              <a:lnSpc>
                <a:spcPct val="150000"/>
              </a:lnSpc>
              <a:buFont typeface="Wingdings" panose="05000000000000000000" pitchFamily="2" charset="2"/>
              <a:buChar char="§"/>
            </a:pPr>
            <a:r>
              <a:rPr lang="en-ZA" sz="1200" dirty="0"/>
              <a:t>Provide an assessment of the solution's scalability, operational feasibility and potential cost savings.</a:t>
            </a:r>
          </a:p>
          <a:p>
            <a:pPr marL="285750" lvl="0" indent="-285750">
              <a:lnSpc>
                <a:spcPct val="150000"/>
              </a:lnSpc>
              <a:buFont typeface="Wingdings" panose="05000000000000000000" pitchFamily="2" charset="2"/>
              <a:buChar char="§"/>
            </a:pPr>
            <a:endParaRPr lang="en-ZA" sz="1200" dirty="0"/>
          </a:p>
          <a:p>
            <a:pPr lvl="0">
              <a:lnSpc>
                <a:spcPct val="150000"/>
              </a:lnSpc>
            </a:pPr>
            <a:endParaRPr lang="en-ZA" dirty="0"/>
          </a:p>
        </p:txBody>
      </p:sp>
      <p:pic>
        <p:nvPicPr>
          <p:cNvPr id="6" name="Picture 5" descr="A blue rectangular sign with white text&#10;&#10;Description automatically generated">
            <a:extLst>
              <a:ext uri="{FF2B5EF4-FFF2-40B4-BE49-F238E27FC236}">
                <a16:creationId xmlns:a16="http://schemas.microsoft.com/office/drawing/2014/main" id="{03BA5025-E828-A1A9-8FB6-B4AB44D3EE5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26" y="6218116"/>
            <a:ext cx="1044000" cy="592470"/>
          </a:xfrm>
          <a:prstGeom prst="rect">
            <a:avLst/>
          </a:prstGeom>
        </p:spPr>
      </p:pic>
      <p:pic>
        <p:nvPicPr>
          <p:cNvPr id="5" name="Picture 4">
            <a:extLst>
              <a:ext uri="{FF2B5EF4-FFF2-40B4-BE49-F238E27FC236}">
                <a16:creationId xmlns:a16="http://schemas.microsoft.com/office/drawing/2014/main" id="{10D407FB-D4BC-5365-F4B3-523280887A66}"/>
              </a:ext>
            </a:extLst>
          </p:cNvPr>
          <p:cNvPicPr>
            <a:picLocks noChangeAspect="1"/>
          </p:cNvPicPr>
          <p:nvPr/>
        </p:nvPicPr>
        <p:blipFill>
          <a:blip r:embed="rId3"/>
          <a:stretch>
            <a:fillRect/>
          </a:stretch>
        </p:blipFill>
        <p:spPr>
          <a:xfrm>
            <a:off x="10930019" y="6560628"/>
            <a:ext cx="1261981" cy="249958"/>
          </a:xfrm>
          <a:prstGeom prst="rect">
            <a:avLst/>
          </a:prstGeom>
        </p:spPr>
      </p:pic>
    </p:spTree>
    <p:extLst>
      <p:ext uri="{BB962C8B-B14F-4D97-AF65-F5344CB8AC3E}">
        <p14:creationId xmlns:p14="http://schemas.microsoft.com/office/powerpoint/2010/main" val="26619804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7FD98F97-B42F-57D7-7690-7EFD1B1067CA}"/>
              </a:ext>
            </a:extLst>
          </p:cNvPr>
          <p:cNvSpPr>
            <a:spLocks noGrp="1"/>
          </p:cNvSpPr>
          <p:nvPr>
            <p:ph type="title"/>
          </p:nvPr>
        </p:nvSpPr>
        <p:spPr>
          <a:xfrm>
            <a:off x="1371597" y="348865"/>
            <a:ext cx="10044023" cy="877729"/>
          </a:xfrm>
        </p:spPr>
        <p:txBody>
          <a:bodyPr anchor="ctr">
            <a:normAutofit fontScale="90000"/>
          </a:bodyPr>
          <a:lstStyle/>
          <a:p>
            <a:r>
              <a:rPr lang="en-ZA" sz="4000" dirty="0">
                <a:solidFill>
                  <a:srgbClr val="FFFFFF"/>
                </a:solidFill>
              </a:rPr>
              <a:t>TELKOM TOPIC 2 : SYNOPSIS - AI-Driven Digital Enterprise and Intelligent Services </a:t>
            </a:r>
          </a:p>
        </p:txBody>
      </p:sp>
      <p:sp>
        <p:nvSpPr>
          <p:cNvPr id="3" name="Content Placeholder 2">
            <a:extLst>
              <a:ext uri="{FF2B5EF4-FFF2-40B4-BE49-F238E27FC236}">
                <a16:creationId xmlns:a16="http://schemas.microsoft.com/office/drawing/2014/main" id="{C7BC127B-C41D-9990-F1F6-781F467E0547}"/>
              </a:ext>
            </a:extLst>
          </p:cNvPr>
          <p:cNvSpPr>
            <a:spLocks/>
          </p:cNvSpPr>
          <p:nvPr/>
        </p:nvSpPr>
        <p:spPr>
          <a:xfrm>
            <a:off x="206187" y="1844846"/>
            <a:ext cx="9072433" cy="5013153"/>
          </a:xfrm>
          <a:prstGeom prst="rect">
            <a:avLst/>
          </a:prstGeom>
        </p:spPr>
        <p:txBody>
          <a:bodyPr>
            <a:noAutofit/>
          </a:bodyPr>
          <a:lstStyle/>
          <a:p>
            <a:endParaRPr lang="en-ZA" sz="1400" b="1" dirty="0">
              <a:solidFill>
                <a:srgbClr val="0070C0"/>
              </a:solidFill>
            </a:endParaRPr>
          </a:p>
          <a:p>
            <a:r>
              <a:rPr lang="en-ZA" sz="1400" b="1" u="sng" dirty="0">
                <a:solidFill>
                  <a:srgbClr val="0000FF"/>
                </a:solidFill>
              </a:rPr>
              <a:t>An AI-Based Framework for Automated Troubleshooting and Root Cause Analysis of Mobile Network Signalling Traces.</a:t>
            </a:r>
          </a:p>
          <a:p>
            <a:endParaRPr lang="en-ZA" sz="1400" b="1" dirty="0"/>
          </a:p>
          <a:p>
            <a:r>
              <a:rPr lang="en-ZA" sz="1400" b="1" dirty="0"/>
              <a:t>This challenge focuses on applying AI, machine learning intelligent services to transform Network Performance Management from a largely reactive, manual process into a data-driven &amp; an automated process for decision support capability. </a:t>
            </a:r>
          </a:p>
          <a:p>
            <a:endParaRPr lang="en-ZA" sz="1400" b="1" dirty="0"/>
          </a:p>
          <a:p>
            <a:pPr marL="285750" indent="-285750" algn="just" defTabSz="649224">
              <a:spcAft>
                <a:spcPts val="600"/>
              </a:spcAft>
              <a:buFont typeface="Wingdings" panose="05000000000000000000" pitchFamily="2" charset="2"/>
              <a:buChar char="v"/>
            </a:pPr>
            <a:r>
              <a:rPr lang="en-ZA" sz="1400" dirty="0"/>
              <a:t>Mobile network core failures can result in customer faults such as call failures, registration failures and unsuccessful service requests. Currently, troubleshooting these faults relies heavily on manual analysis of signalling traces, logs, alarms and network data across multiple core network domains. This process is time-consuming and often requires engineers from different technical domains to collaborate in order to identify the root cause of a single customer fault.</a:t>
            </a:r>
          </a:p>
          <a:p>
            <a:pPr marL="285750" indent="-285750" algn="just" defTabSz="649224">
              <a:spcAft>
                <a:spcPts val="600"/>
              </a:spcAft>
              <a:buFont typeface="Wingdings" panose="05000000000000000000" pitchFamily="2" charset="2"/>
              <a:buChar char="v"/>
            </a:pPr>
            <a:r>
              <a:rPr lang="en-ZA" sz="1400" dirty="0"/>
              <a:t>The lack of an automated mechanism to rapidly analyse signalling traces, identify abnormal signalling patterns, correlate events across network domains and determine the probable root cause contributes to high fault-handling times and inefficient use of engineering resources.</a:t>
            </a:r>
          </a:p>
          <a:p>
            <a:pPr marL="285750" indent="-285750" algn="just" defTabSz="649224">
              <a:spcAft>
                <a:spcPts val="600"/>
              </a:spcAft>
              <a:buFont typeface="Wingdings" panose="05000000000000000000" pitchFamily="2" charset="2"/>
              <a:buChar char="v"/>
            </a:pPr>
            <a:r>
              <a:rPr lang="en-ZA" sz="1400" dirty="0"/>
              <a:t>The challenge is to develop an AI-based troubleshooting and root cause analysis framework that can automatically analyse mobile network traces, identify failure patterns, correlate events across network elements and domains, and determine the most probable root cause of a customer fault.</a:t>
            </a:r>
          </a:p>
          <a:p>
            <a:pPr algn="just" defTabSz="649224">
              <a:spcAft>
                <a:spcPts val="600"/>
              </a:spcAft>
            </a:pPr>
            <a:endParaRPr lang="en-ZA" sz="1200" dirty="0"/>
          </a:p>
          <a:p>
            <a:pPr algn="just" defTabSz="649224">
              <a:spcAft>
                <a:spcPts val="600"/>
              </a:spcAft>
            </a:pPr>
            <a:endParaRPr lang="en-ZA" sz="1200" dirty="0"/>
          </a:p>
          <a:p>
            <a:pPr algn="just" defTabSz="649224">
              <a:spcAft>
                <a:spcPts val="600"/>
              </a:spcAft>
            </a:pPr>
            <a:endParaRPr lang="en-ZA" sz="1200" dirty="0"/>
          </a:p>
          <a:p>
            <a:pPr marL="171450" indent="-171450" algn="just" defTabSz="649224">
              <a:spcAft>
                <a:spcPts val="600"/>
              </a:spcAft>
              <a:buFont typeface="Wingdings" panose="05000000000000000000" pitchFamily="2" charset="2"/>
              <a:buChar char="§"/>
            </a:pPr>
            <a:endParaRPr lang="en-ZA" sz="1200" b="1" dirty="0"/>
          </a:p>
        </p:txBody>
      </p:sp>
      <p:sp>
        <p:nvSpPr>
          <p:cNvPr id="5" name="TextBox 4">
            <a:extLst>
              <a:ext uri="{FF2B5EF4-FFF2-40B4-BE49-F238E27FC236}">
                <a16:creationId xmlns:a16="http://schemas.microsoft.com/office/drawing/2014/main" id="{7339FB43-C25C-6FC4-947C-42840D04A27E}"/>
              </a:ext>
            </a:extLst>
          </p:cNvPr>
          <p:cNvSpPr txBox="1"/>
          <p:nvPr/>
        </p:nvSpPr>
        <p:spPr>
          <a:xfrm>
            <a:off x="83826" y="1537146"/>
            <a:ext cx="11714053" cy="369332"/>
          </a:xfrm>
          <a:prstGeom prst="rect">
            <a:avLst/>
          </a:prstGeom>
          <a:noFill/>
        </p:spPr>
        <p:txBody>
          <a:bodyPr wrap="square" rtlCol="0">
            <a:spAutoFit/>
          </a:bodyPr>
          <a:lstStyle/>
          <a:p>
            <a:pPr defTabSz="649224">
              <a:spcAft>
                <a:spcPts val="600"/>
              </a:spcAft>
            </a:pPr>
            <a:r>
              <a:rPr lang="en-ZA" b="1" dirty="0"/>
              <a:t>Transform organisations through AI-enabled automation, intelligent services and enhanced customer experiences</a:t>
            </a:r>
            <a:endParaRPr lang="en-ZA" b="1" i="1" dirty="0"/>
          </a:p>
        </p:txBody>
      </p:sp>
      <p:pic>
        <p:nvPicPr>
          <p:cNvPr id="4" name="Picture 3" descr="A computer network around the earth&#10;&#10;Description automatically generated">
            <a:extLst>
              <a:ext uri="{FF2B5EF4-FFF2-40B4-BE49-F238E27FC236}">
                <a16:creationId xmlns:a16="http://schemas.microsoft.com/office/drawing/2014/main" id="{57AE0170-0350-DB3D-3D7E-5FDBEC6E093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91234" y="1903544"/>
            <a:ext cx="2888151" cy="1885145"/>
          </a:xfrm>
          <a:prstGeom prst="rect">
            <a:avLst/>
          </a:prstGeom>
        </p:spPr>
      </p:pic>
      <p:pic>
        <p:nvPicPr>
          <p:cNvPr id="8" name="Picture 7" descr="A blue rectangular sign with white text&#10;&#10;Description automatically generated">
            <a:extLst>
              <a:ext uri="{FF2B5EF4-FFF2-40B4-BE49-F238E27FC236}">
                <a16:creationId xmlns:a16="http://schemas.microsoft.com/office/drawing/2014/main" id="{C584C22E-9EC6-F68E-6B9A-A88F7FD3590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13072" y="6434690"/>
            <a:ext cx="769614" cy="436756"/>
          </a:xfrm>
          <a:prstGeom prst="rect">
            <a:avLst/>
          </a:prstGeom>
        </p:spPr>
      </p:pic>
      <p:pic>
        <p:nvPicPr>
          <p:cNvPr id="9" name="Picture 8">
            <a:extLst>
              <a:ext uri="{FF2B5EF4-FFF2-40B4-BE49-F238E27FC236}">
                <a16:creationId xmlns:a16="http://schemas.microsoft.com/office/drawing/2014/main" id="{252781E6-A8B6-738C-E7A1-22188665FB16}"/>
              </a:ext>
            </a:extLst>
          </p:cNvPr>
          <p:cNvPicPr>
            <a:picLocks noChangeAspect="1"/>
          </p:cNvPicPr>
          <p:nvPr/>
        </p:nvPicPr>
        <p:blipFill>
          <a:blip r:embed="rId4"/>
          <a:stretch>
            <a:fillRect/>
          </a:stretch>
        </p:blipFill>
        <p:spPr>
          <a:xfrm>
            <a:off x="10122814" y="6527327"/>
            <a:ext cx="1265030" cy="251482"/>
          </a:xfrm>
          <a:prstGeom prst="rect">
            <a:avLst/>
          </a:prstGeom>
        </p:spPr>
      </p:pic>
    </p:spTree>
    <p:extLst>
      <p:ext uri="{BB962C8B-B14F-4D97-AF65-F5344CB8AC3E}">
        <p14:creationId xmlns:p14="http://schemas.microsoft.com/office/powerpoint/2010/main" val="35204947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40F93AE-42BD-4E3F-4CB0-7CF122178BB5}"/>
              </a:ext>
            </a:extLst>
          </p:cNvPr>
          <p:cNvSpPr>
            <a:spLocks noGrp="1"/>
          </p:cNvSpPr>
          <p:nvPr>
            <p:ph idx="1"/>
          </p:nvPr>
        </p:nvSpPr>
        <p:spPr>
          <a:xfrm>
            <a:off x="688910" y="429208"/>
            <a:ext cx="10515600" cy="5514392"/>
          </a:xfrm>
        </p:spPr>
        <p:txBody>
          <a:bodyPr>
            <a:normAutofit fontScale="47500" lnSpcReduction="20000"/>
          </a:bodyPr>
          <a:lstStyle/>
          <a:p>
            <a:pPr marL="0" indent="0">
              <a:buNone/>
            </a:pPr>
            <a:r>
              <a:rPr lang="en-ZA" sz="3400" b="1" dirty="0"/>
              <a:t>SOLUTION</a:t>
            </a:r>
          </a:p>
          <a:p>
            <a:pPr marL="0" indent="0">
              <a:buNone/>
            </a:pPr>
            <a:r>
              <a:rPr lang="en-ZA" sz="3200" b="1" dirty="0"/>
              <a:t>DESIRED OUTCOME: </a:t>
            </a:r>
          </a:p>
          <a:p>
            <a:pPr>
              <a:buFont typeface="Wingdings" panose="05000000000000000000" pitchFamily="2" charset="2"/>
              <a:buChar char="v"/>
            </a:pPr>
            <a:r>
              <a:rPr lang="en-ZA" sz="3200" i="1" u="sng" dirty="0"/>
              <a:t>Develop AI-based troubleshooting framework capable of analysing mobile network signalling traces.</a:t>
            </a:r>
          </a:p>
          <a:p>
            <a:pPr>
              <a:buFont typeface="Wingdings" panose="05000000000000000000" pitchFamily="2" charset="2"/>
              <a:buChar char="ü"/>
            </a:pPr>
            <a:r>
              <a:rPr lang="en-ZA" sz="2900" dirty="0"/>
              <a:t>The desired outcome is to reduce the time spent troubleshooting core network faults, minimise dependency on multiple engineering teams, improve first-time fault diagnosis, and enable engineers to resolve customer-impacting issues faster and more efficiently.</a:t>
            </a:r>
          </a:p>
          <a:p>
            <a:pPr marL="0" indent="0">
              <a:buNone/>
            </a:pPr>
            <a:r>
              <a:rPr lang="en-ZA" sz="3200" b="1" dirty="0"/>
              <a:t>Expected Deliverables: (At least 6)</a:t>
            </a:r>
          </a:p>
          <a:p>
            <a:r>
              <a:rPr lang="en-ZA" sz="3200" dirty="0"/>
              <a:t>Develop an AI-based troubleshooting and root cause analysis framework that can automatically analyse mobile network signalling traces, identify failure patterns, correlate events across network elements/ domains, and determine the most probable root cause of a customer fault.</a:t>
            </a:r>
          </a:p>
          <a:p>
            <a:r>
              <a:rPr lang="en-ZA" sz="3200" dirty="0"/>
              <a:t>Automated failure detection to identify abnormal signalling patterns and call/service failures.</a:t>
            </a:r>
          </a:p>
          <a:p>
            <a:r>
              <a:rPr lang="en-ZA" sz="3200" dirty="0"/>
              <a:t>Automated Root Cause Analysis (RCA) that identifies the most probable cause of a failure.</a:t>
            </a:r>
          </a:p>
          <a:p>
            <a:r>
              <a:rPr lang="en-ZA" sz="3200" dirty="0"/>
              <a:t>Signalling trace correlation of information from multiple sources to assist with root-cause investigation across relevant network elements, interfaces and domains. ((Automated correlation)</a:t>
            </a:r>
          </a:p>
          <a:p>
            <a:r>
              <a:rPr lang="en-ZA" sz="3200" dirty="0"/>
              <a:t>Recommendations to guide engineers towards the appropriate corrective action </a:t>
            </a:r>
          </a:p>
          <a:p>
            <a:r>
              <a:rPr lang="en-ZA" sz="3200" dirty="0"/>
              <a:t>Identify and prioritise significant network performance issues. (Early identification of unusual/deteriorating network behaviour)</a:t>
            </a:r>
          </a:p>
          <a:p>
            <a:r>
              <a:rPr lang="en-ZA" sz="3200" dirty="0"/>
              <a:t>Measure the potential benefit in terms of investigation time, accuracy/consistency of diagnosis and engineer effort.</a:t>
            </a:r>
          </a:p>
          <a:p>
            <a:r>
              <a:rPr lang="en-ZA" sz="3200" dirty="0"/>
              <a:t>Prototype or Proof of Concept (PoC) demonstrating the AI framework using historical signalling/fault data.</a:t>
            </a:r>
          </a:p>
          <a:p>
            <a:r>
              <a:rPr lang="en-ZA" sz="3200" dirty="0"/>
              <a:t>Performance evaluation comparing AI-assisted troubleshooting against the current manual process, particularly in terms of fault-handling/troubleshooting time and RCA accuracy.</a:t>
            </a:r>
          </a:p>
          <a:p>
            <a:r>
              <a:rPr lang="en-ZA" sz="3200" dirty="0"/>
              <a:t>Operational dashboard or report showing detected failures, probable root causes, confidence levels and recommended actions.</a:t>
            </a:r>
          </a:p>
          <a:p>
            <a:endParaRPr lang="en-ZA" dirty="0"/>
          </a:p>
        </p:txBody>
      </p:sp>
    </p:spTree>
    <p:extLst>
      <p:ext uri="{BB962C8B-B14F-4D97-AF65-F5344CB8AC3E}">
        <p14:creationId xmlns:p14="http://schemas.microsoft.com/office/powerpoint/2010/main" val="1617637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3A244CC-CD97-9707-EDBD-24EED2BBA510}"/>
            </a:ext>
          </a:extLst>
        </p:cNvPr>
        <p:cNvGrpSpPr/>
        <p:nvPr/>
      </p:nvGrpSpPr>
      <p:grpSpPr>
        <a:xfrm>
          <a:off x="0" y="0"/>
          <a:ext cx="0" cy="0"/>
          <a:chOff x="0" y="0"/>
          <a:chExt cx="0" cy="0"/>
        </a:xfrm>
      </p:grpSpPr>
      <p:sp useBgFill="1">
        <p:nvSpPr>
          <p:cNvPr id="59" name="Rectangle 58">
            <a:extLst>
              <a:ext uri="{FF2B5EF4-FFF2-40B4-BE49-F238E27FC236}">
                <a16:creationId xmlns:a16="http://schemas.microsoft.com/office/drawing/2014/main" id="{7FF47CB7-972F-479F-A36D-9E72D26EC8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Freeform: Shape 60">
            <a:extLst>
              <a:ext uri="{FF2B5EF4-FFF2-40B4-BE49-F238E27FC236}">
                <a16:creationId xmlns:a16="http://schemas.microsoft.com/office/drawing/2014/main" id="{0D153B68-5844-490D-8E67-F616D6D721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1766176" cy="2061837"/>
          </a:xfrm>
          <a:custGeom>
            <a:avLst/>
            <a:gdLst>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13657 w 10768629"/>
              <a:gd name="connsiteY144" fmla="*/ 1730706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84330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10768629" h="1978172">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07720" y="510631"/>
                  <a:pt x="9287964" y="513052"/>
                </a:cubicBezTo>
                <a:cubicBezTo>
                  <a:pt x="9269905" y="526173"/>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67549" y="584727"/>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394729" y="948347"/>
                </a:lnTo>
                <a:lnTo>
                  <a:pt x="8380548" y="987916"/>
                </a:lnTo>
                <a:lnTo>
                  <a:pt x="8375330" y="965444"/>
                </a:lnTo>
                <a:cubicBezTo>
                  <a:pt x="8372375" y="964202"/>
                  <a:pt x="8344433" y="977378"/>
                  <a:pt x="8340796" y="980522"/>
                </a:cubicBezTo>
                <a:cubicBezTo>
                  <a:pt x="8328292" y="982128"/>
                  <a:pt x="8319237" y="991089"/>
                  <a:pt x="8304438" y="996739"/>
                </a:cubicBezTo>
                <a:cubicBezTo>
                  <a:pt x="8297193" y="1005683"/>
                  <a:pt x="8289328" y="1014568"/>
                  <a:pt x="8280929" y="1023089"/>
                </a:cubicBezTo>
                <a:lnTo>
                  <a:pt x="8275760" y="1027772"/>
                </a:lnTo>
                <a:lnTo>
                  <a:pt x="8275478" y="1027605"/>
                </a:lnTo>
                <a:cubicBezTo>
                  <a:pt x="8273970" y="1028076"/>
                  <a:pt x="8251461" y="1029408"/>
                  <a:pt x="8249003"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39392" y="1192062"/>
                </a:lnTo>
                <a:lnTo>
                  <a:pt x="7677677" y="1216394"/>
                </a:lnTo>
                <a:lnTo>
                  <a:pt x="7586920" y="1261888"/>
                </a:lnTo>
                <a:cubicBezTo>
                  <a:pt x="7556723" y="1298911"/>
                  <a:pt x="7489187" y="1284518"/>
                  <a:pt x="7486100" y="1292563"/>
                </a:cubicBezTo>
                <a:cubicBezTo>
                  <a:pt x="7454875" y="1308356"/>
                  <a:pt x="7453335" y="1326361"/>
                  <a:pt x="7411323" y="1340732"/>
                </a:cubicBezTo>
                <a:cubicBezTo>
                  <a:pt x="7372519" y="1390006"/>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15134" y="1706361"/>
                  <a:pt x="5521171" y="1671626"/>
                </a:cubicBezTo>
                <a:cubicBezTo>
                  <a:pt x="5491803" y="1671296"/>
                  <a:pt x="5498089" y="1662666"/>
                  <a:pt x="5457384" y="1683952"/>
                </a:cubicBezTo>
                <a:cubicBezTo>
                  <a:pt x="5356959" y="1699287"/>
                  <a:pt x="5078905" y="1774579"/>
                  <a:pt x="4950070" y="1748401"/>
                </a:cubicBezTo>
                <a:cubicBezTo>
                  <a:pt x="4918276" y="1752255"/>
                  <a:pt x="4891043" y="1756936"/>
                  <a:pt x="4872172" y="1757222"/>
                </a:cubicBezTo>
                <a:lnTo>
                  <a:pt x="4809524" y="1761033"/>
                </a:lnTo>
                <a:cubicBezTo>
                  <a:pt x="4791324" y="1772975"/>
                  <a:pt x="4777258" y="1754591"/>
                  <a:pt x="4759058" y="1766533"/>
                </a:cubicBezTo>
                <a:cubicBezTo>
                  <a:pt x="4747481" y="1770744"/>
                  <a:pt x="4734604" y="1772921"/>
                  <a:pt x="4719749" y="1771811"/>
                </a:cubicBezTo>
                <a:cubicBezTo>
                  <a:pt x="4671168" y="1780243"/>
                  <a:pt x="4634134" y="1775931"/>
                  <a:pt x="4568686" y="1786141"/>
                </a:cubicBezTo>
                <a:cubicBezTo>
                  <a:pt x="4544667" y="1777910"/>
                  <a:pt x="4432547" y="1778168"/>
                  <a:pt x="4418751" y="1796932"/>
                </a:cubicBezTo>
                <a:cubicBezTo>
                  <a:pt x="4403360" y="1801488"/>
                  <a:pt x="4385278" y="1795746"/>
                  <a:pt x="4378377" y="1815528"/>
                </a:cubicBezTo>
                <a:cubicBezTo>
                  <a:pt x="4366870" y="1839461"/>
                  <a:pt x="4337372" y="1814003"/>
                  <a:pt x="4320575" y="1832722"/>
                </a:cubicBezTo>
                <a:cubicBezTo>
                  <a:pt x="4277898" y="1857053"/>
                  <a:pt x="4243945" y="1846759"/>
                  <a:pt x="4211935" y="1860177"/>
                </a:cubicBezTo>
                <a:cubicBezTo>
                  <a:pt x="4181519" y="1859584"/>
                  <a:pt x="4171342" y="1859762"/>
                  <a:pt x="4101228" y="1868717"/>
                </a:cubicBezTo>
                <a:cubicBezTo>
                  <a:pt x="4080159" y="1876188"/>
                  <a:pt x="4039427" y="1877381"/>
                  <a:pt x="3973223" y="1881015"/>
                </a:cubicBezTo>
                <a:cubicBezTo>
                  <a:pt x="3971330" y="1884974"/>
                  <a:pt x="3952843" y="1879225"/>
                  <a:pt x="3900992" y="1880603"/>
                </a:cubicBezTo>
                <a:cubicBezTo>
                  <a:pt x="3849141" y="1881981"/>
                  <a:pt x="3740060" y="1895686"/>
                  <a:pt x="3662119" y="1889285"/>
                </a:cubicBezTo>
                <a:cubicBezTo>
                  <a:pt x="3565155" y="1881322"/>
                  <a:pt x="3613412" y="1915150"/>
                  <a:pt x="3496919" y="1873180"/>
                </a:cubicBezTo>
                <a:cubicBezTo>
                  <a:pt x="3488062" y="1895719"/>
                  <a:pt x="3474293" y="1876288"/>
                  <a:pt x="3449433" y="1889681"/>
                </a:cubicBezTo>
                <a:cubicBezTo>
                  <a:pt x="3406553" y="1891629"/>
                  <a:pt x="3413217" y="1897797"/>
                  <a:pt x="3369766" y="1916653"/>
                </a:cubicBezTo>
                <a:cubicBezTo>
                  <a:pt x="3338805" y="1929531"/>
                  <a:pt x="3289487" y="1928617"/>
                  <a:pt x="3269672" y="1938036"/>
                </a:cubicBezTo>
                <a:lnTo>
                  <a:pt x="3224897" y="1943733"/>
                </a:lnTo>
                <a:cubicBezTo>
                  <a:pt x="3188693" y="1949271"/>
                  <a:pt x="3178540" y="1909145"/>
                  <a:pt x="3161463" y="1946591"/>
                </a:cubicBezTo>
                <a:lnTo>
                  <a:pt x="3112044" y="1935614"/>
                </a:lnTo>
                <a:lnTo>
                  <a:pt x="3069716" y="1930463"/>
                </a:lnTo>
                <a:cubicBezTo>
                  <a:pt x="3049937" y="1924285"/>
                  <a:pt x="3047816" y="1925644"/>
                  <a:pt x="3005773" y="1915878"/>
                </a:cubicBezTo>
                <a:cubicBezTo>
                  <a:pt x="2978838" y="1921092"/>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3064" y="1962036"/>
                  <a:pt x="2051584" y="1971011"/>
                  <a:pt x="2033299" y="1969042"/>
                </a:cubicBezTo>
                <a:cubicBezTo>
                  <a:pt x="2015014" y="1967073"/>
                  <a:pt x="1998956" y="1958903"/>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416370" y="1829853"/>
                  <a:pt x="1357365" y="1832140"/>
                </a:cubicBezTo>
                <a:cubicBezTo>
                  <a:pt x="1285880" y="1811785"/>
                  <a:pt x="1273193" y="1786872"/>
                  <a:pt x="1232341" y="1785942"/>
                </a:cubicBezTo>
                <a:cubicBezTo>
                  <a:pt x="1223903" y="1792798"/>
                  <a:pt x="1160576" y="1793911"/>
                  <a:pt x="1162595" y="1784330"/>
                </a:cubicBezTo>
                <a:cubicBezTo>
                  <a:pt x="1153167" y="1787110"/>
                  <a:pt x="1122206" y="1805077"/>
                  <a:pt x="1120257" y="1789615"/>
                </a:cubicBezTo>
                <a:cubicBezTo>
                  <a:pt x="1073149" y="1786750"/>
                  <a:pt x="1034361" y="1768718"/>
                  <a:pt x="991903" y="1786741"/>
                </a:cubicBezTo>
                <a:cubicBezTo>
                  <a:pt x="966383" y="1781126"/>
                  <a:pt x="949501" y="1800915"/>
                  <a:pt x="883960" y="1809389"/>
                </a:cubicBezTo>
                <a:cubicBezTo>
                  <a:pt x="836064" y="1808194"/>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CE8C3342-D23D-8D65-46F7-90B956B31784}"/>
              </a:ext>
            </a:extLst>
          </p:cNvPr>
          <p:cNvSpPr>
            <a:spLocks noGrp="1"/>
          </p:cNvSpPr>
          <p:nvPr>
            <p:ph type="title"/>
          </p:nvPr>
        </p:nvSpPr>
        <p:spPr>
          <a:xfrm>
            <a:off x="1137034" y="609597"/>
            <a:ext cx="9392421" cy="1330841"/>
          </a:xfrm>
        </p:spPr>
        <p:txBody>
          <a:bodyPr vert="horz" lIns="91440" tIns="45720" rIns="91440" bIns="45720" rtlCol="0" anchor="ctr">
            <a:normAutofit/>
          </a:bodyPr>
          <a:lstStyle/>
          <a:p>
            <a:r>
              <a:rPr lang="en-US" kern="1200" dirty="0">
                <a:solidFill>
                  <a:schemeClr val="tx1"/>
                </a:solidFill>
                <a:latin typeface="+mj-lt"/>
                <a:ea typeface="+mj-ea"/>
                <a:cs typeface="+mj-cs"/>
              </a:rPr>
              <a:t>Intended AI-enabled capability</a:t>
            </a:r>
          </a:p>
        </p:txBody>
      </p:sp>
      <p:sp>
        <p:nvSpPr>
          <p:cNvPr id="3" name="Content Placeholder 2">
            <a:extLst>
              <a:ext uri="{FF2B5EF4-FFF2-40B4-BE49-F238E27FC236}">
                <a16:creationId xmlns:a16="http://schemas.microsoft.com/office/drawing/2014/main" id="{D8B11DF9-28A8-1B79-1824-7C71A689754C}"/>
              </a:ext>
            </a:extLst>
          </p:cNvPr>
          <p:cNvSpPr>
            <a:spLocks/>
          </p:cNvSpPr>
          <p:nvPr/>
        </p:nvSpPr>
        <p:spPr>
          <a:xfrm>
            <a:off x="1137034" y="2198362"/>
            <a:ext cx="4958966" cy="3917773"/>
          </a:xfrm>
          <a:prstGeom prst="rect">
            <a:avLst/>
          </a:prstGeom>
        </p:spPr>
        <p:txBody>
          <a:bodyPr vert="horz" lIns="91440" tIns="45720" rIns="91440" bIns="45720" rtlCol="0">
            <a:normAutofit lnSpcReduction="10000"/>
          </a:bodyPr>
          <a:lstStyle/>
          <a:p>
            <a:pPr>
              <a:lnSpc>
                <a:spcPct val="90000"/>
              </a:lnSpc>
              <a:spcAft>
                <a:spcPts val="600"/>
              </a:spcAft>
            </a:pPr>
            <a:r>
              <a:rPr lang="en-US" sz="1700" b="1" dirty="0"/>
              <a:t>Develop a tool with the following capabilities:</a:t>
            </a:r>
          </a:p>
          <a:p>
            <a:pPr indent="-228600">
              <a:lnSpc>
                <a:spcPct val="90000"/>
              </a:lnSpc>
              <a:spcAft>
                <a:spcPts val="600"/>
              </a:spcAft>
              <a:buFont typeface="Arial" panose="020B0604020202020204" pitchFamily="34" charset="0"/>
              <a:buChar char="•"/>
            </a:pPr>
            <a:endParaRPr lang="en-US" sz="1700" b="1" dirty="0"/>
          </a:p>
          <a:p>
            <a:pPr marL="628650" lvl="1" indent="-228600">
              <a:lnSpc>
                <a:spcPct val="90000"/>
              </a:lnSpc>
              <a:buFont typeface="Arial" panose="020B0604020202020204" pitchFamily="34" charset="0"/>
              <a:buChar char="•"/>
            </a:pPr>
            <a:r>
              <a:rPr lang="en-US" sz="1700" b="1" dirty="0"/>
              <a:t>Detection:</a:t>
            </a:r>
            <a:r>
              <a:rPr lang="en-US" sz="1700" dirty="0"/>
              <a:t> -(Time of day and day of week, event-driven traffic  patterns, planned maintenance and configuration changes)</a:t>
            </a:r>
          </a:p>
          <a:p>
            <a:pPr marL="628650" lvl="1" indent="-228600">
              <a:lnSpc>
                <a:spcPct val="90000"/>
              </a:lnSpc>
              <a:buFont typeface="Arial" panose="020B0604020202020204" pitchFamily="34" charset="0"/>
              <a:buChar char="•"/>
            </a:pPr>
            <a:endParaRPr lang="en-US" sz="1700" dirty="0"/>
          </a:p>
          <a:p>
            <a:pPr marL="628650" lvl="1" indent="-228600">
              <a:lnSpc>
                <a:spcPct val="90000"/>
              </a:lnSpc>
              <a:buFont typeface="Arial" panose="020B0604020202020204" pitchFamily="34" charset="0"/>
              <a:buChar char="•"/>
            </a:pPr>
            <a:r>
              <a:rPr lang="en-US" sz="1700" b="1" dirty="0"/>
              <a:t>Diagnose:</a:t>
            </a:r>
            <a:r>
              <a:rPr lang="en-US" sz="1700" dirty="0"/>
              <a:t> (Performance counters, Fault and event alarms, Recent changes and maintenance activity, Customer complaints and service-quality indicators)</a:t>
            </a:r>
          </a:p>
          <a:p>
            <a:pPr marL="400050" lvl="1">
              <a:lnSpc>
                <a:spcPct val="90000"/>
              </a:lnSpc>
            </a:pPr>
            <a:endParaRPr lang="en-US" sz="1700" dirty="0"/>
          </a:p>
          <a:p>
            <a:pPr marL="628650" lvl="1" indent="-228600">
              <a:lnSpc>
                <a:spcPct val="90000"/>
              </a:lnSpc>
              <a:buFont typeface="Arial" panose="020B0604020202020204" pitchFamily="34" charset="0"/>
              <a:buChar char="•"/>
            </a:pPr>
            <a:r>
              <a:rPr lang="en-US" sz="1700" b="1" dirty="0"/>
              <a:t>Prioritize</a:t>
            </a:r>
            <a:r>
              <a:rPr lang="en-US" sz="1700" dirty="0"/>
              <a:t>: Duration and rate of deterioration.</a:t>
            </a:r>
          </a:p>
          <a:p>
            <a:pPr marL="628650" lvl="1" indent="-228600">
              <a:lnSpc>
                <a:spcPct val="90000"/>
              </a:lnSpc>
              <a:buFont typeface="Arial" panose="020B0604020202020204" pitchFamily="34" charset="0"/>
              <a:buChar char="•"/>
            </a:pPr>
            <a:endParaRPr lang="en-US" sz="1700" dirty="0"/>
          </a:p>
          <a:p>
            <a:pPr marL="628650" lvl="1" indent="-228600">
              <a:lnSpc>
                <a:spcPct val="90000"/>
              </a:lnSpc>
              <a:buFont typeface="Arial" panose="020B0604020202020204" pitchFamily="34" charset="0"/>
              <a:buChar char="•"/>
            </a:pPr>
            <a:r>
              <a:rPr lang="en-US" sz="1700" b="1" dirty="0"/>
              <a:t>Recommend</a:t>
            </a:r>
            <a:r>
              <a:rPr lang="en-US" sz="1700" dirty="0"/>
              <a:t> (Likely root cause, Affected network elements and services, incident summary</a:t>
            </a:r>
          </a:p>
          <a:p>
            <a:pPr marL="285750" lvl="0" indent="-228600">
              <a:lnSpc>
                <a:spcPct val="90000"/>
              </a:lnSpc>
              <a:buFont typeface="Arial" panose="020B0604020202020204" pitchFamily="34" charset="0"/>
              <a:buChar char="•"/>
            </a:pPr>
            <a:endParaRPr lang="en-US" sz="1700" dirty="0"/>
          </a:p>
        </p:txBody>
      </p:sp>
      <p:sp>
        <p:nvSpPr>
          <p:cNvPr id="63" name="Freeform: Shape 62">
            <a:extLst>
              <a:ext uri="{FF2B5EF4-FFF2-40B4-BE49-F238E27FC236}">
                <a16:creationId xmlns:a16="http://schemas.microsoft.com/office/drawing/2014/main" id="{9A0D773F-7A7D-4DBB-9DEA-86BB8B8F4B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5381624" y="6209414"/>
            <a:ext cx="6810375" cy="648586"/>
          </a:xfrm>
          <a:custGeom>
            <a:avLst/>
            <a:gdLst>
              <a:gd name="connsiteX0" fmla="*/ 0 w 10753706"/>
              <a:gd name="connsiteY0" fmla="*/ 0 h 1027260"/>
              <a:gd name="connsiteX1" fmla="*/ 10753706 w 10753706"/>
              <a:gd name="connsiteY1" fmla="*/ 0 h 1027260"/>
              <a:gd name="connsiteX2" fmla="*/ 10748809 w 10753706"/>
              <a:gd name="connsiteY2" fmla="*/ 2522 h 1027260"/>
              <a:gd name="connsiteX3" fmla="*/ 10725330 w 10753706"/>
              <a:gd name="connsiteY3" fmla="*/ 11977 h 1027260"/>
              <a:gd name="connsiteX4" fmla="*/ 10615423 w 10753706"/>
              <a:gd name="connsiteY4" fmla="*/ 52967 h 1027260"/>
              <a:gd name="connsiteX5" fmla="*/ 10533936 w 10753706"/>
              <a:gd name="connsiteY5" fmla="*/ 53095 h 1027260"/>
              <a:gd name="connsiteX6" fmla="*/ 10466876 w 10753706"/>
              <a:gd name="connsiteY6" fmla="*/ 45180 h 1027260"/>
              <a:gd name="connsiteX7" fmla="*/ 10355090 w 10753706"/>
              <a:gd name="connsiteY7" fmla="*/ 89741 h 1027260"/>
              <a:gd name="connsiteX8" fmla="*/ 10087145 w 10753706"/>
              <a:gd name="connsiteY8" fmla="*/ 66115 h 1027260"/>
              <a:gd name="connsiteX9" fmla="*/ 10015902 w 10753706"/>
              <a:gd name="connsiteY9" fmla="*/ 76178 h 1027260"/>
              <a:gd name="connsiteX10" fmla="*/ 9806005 w 10753706"/>
              <a:gd name="connsiteY10" fmla="*/ 102435 h 1027260"/>
              <a:gd name="connsiteX11" fmla="*/ 9602583 w 10753706"/>
              <a:gd name="connsiteY11" fmla="*/ 179170 h 1027260"/>
              <a:gd name="connsiteX12" fmla="*/ 9469719 w 10753706"/>
              <a:gd name="connsiteY12" fmla="*/ 174721 h 1027260"/>
              <a:gd name="connsiteX13" fmla="*/ 9408692 w 10753706"/>
              <a:gd name="connsiteY13" fmla="*/ 189513 h 1027260"/>
              <a:gd name="connsiteX14" fmla="*/ 9364151 w 10753706"/>
              <a:gd name="connsiteY14" fmla="*/ 194072 h 1027260"/>
              <a:gd name="connsiteX15" fmla="*/ 9337751 w 10753706"/>
              <a:gd name="connsiteY15" fmla="*/ 197579 h 1027260"/>
              <a:gd name="connsiteX16" fmla="*/ 9297166 w 10753706"/>
              <a:gd name="connsiteY16" fmla="*/ 216558 h 1027260"/>
              <a:gd name="connsiteX17" fmla="*/ 9123859 w 10753706"/>
              <a:gd name="connsiteY17" fmla="*/ 237356 h 1027260"/>
              <a:gd name="connsiteX18" fmla="*/ 8950741 w 10753706"/>
              <a:gd name="connsiteY18" fmla="*/ 238020 h 1027260"/>
              <a:gd name="connsiteX19" fmla="*/ 8718236 w 10753706"/>
              <a:gd name="connsiteY19" fmla="*/ 303148 h 1027260"/>
              <a:gd name="connsiteX20" fmla="*/ 8694011 w 10753706"/>
              <a:gd name="connsiteY20" fmla="*/ 308812 h 1027260"/>
              <a:gd name="connsiteX21" fmla="*/ 8611976 w 10753706"/>
              <a:gd name="connsiteY21" fmla="*/ 324819 h 1027260"/>
              <a:gd name="connsiteX22" fmla="*/ 8562074 w 10753706"/>
              <a:gd name="connsiteY22" fmla="*/ 337971 h 1027260"/>
              <a:gd name="connsiteX23" fmla="*/ 8501724 w 10753706"/>
              <a:gd name="connsiteY23" fmla="*/ 360865 h 1027260"/>
              <a:gd name="connsiteX24" fmla="*/ 8504489 w 10753706"/>
              <a:gd name="connsiteY24" fmla="*/ 364790 h 1027260"/>
              <a:gd name="connsiteX25" fmla="*/ 8492774 w 10753706"/>
              <a:gd name="connsiteY25" fmla="*/ 366181 h 1027260"/>
              <a:gd name="connsiteX26" fmla="*/ 8466405 w 10753706"/>
              <a:gd name="connsiteY26" fmla="*/ 368724 h 1027260"/>
              <a:gd name="connsiteX27" fmla="*/ 8427069 w 10753706"/>
              <a:gd name="connsiteY27" fmla="*/ 387211 h 1027260"/>
              <a:gd name="connsiteX28" fmla="*/ 8387766 w 10753706"/>
              <a:gd name="connsiteY28" fmla="*/ 377161 h 1027260"/>
              <a:gd name="connsiteX29" fmla="*/ 8315874 w 10753706"/>
              <a:gd name="connsiteY29" fmla="*/ 395527 h 1027260"/>
              <a:gd name="connsiteX30" fmla="*/ 8274474 w 10753706"/>
              <a:gd name="connsiteY30" fmla="*/ 405112 h 1027260"/>
              <a:gd name="connsiteX31" fmla="*/ 8234664 w 10753706"/>
              <a:gd name="connsiteY31" fmla="*/ 410219 h 1027260"/>
              <a:gd name="connsiteX32" fmla="*/ 8211268 w 10753706"/>
              <a:gd name="connsiteY32" fmla="*/ 416791 h 1027260"/>
              <a:gd name="connsiteX33" fmla="*/ 8188615 w 10753706"/>
              <a:gd name="connsiteY33" fmla="*/ 421755 h 1027260"/>
              <a:gd name="connsiteX34" fmla="*/ 8179981 w 10753706"/>
              <a:gd name="connsiteY34" fmla="*/ 420402 h 1027260"/>
              <a:gd name="connsiteX35" fmla="*/ 8179307 w 10753706"/>
              <a:gd name="connsiteY35" fmla="*/ 422516 h 1027260"/>
              <a:gd name="connsiteX36" fmla="*/ 8147929 w 10753706"/>
              <a:gd name="connsiteY36" fmla="*/ 450302 h 1027260"/>
              <a:gd name="connsiteX37" fmla="*/ 8089136 w 10753706"/>
              <a:gd name="connsiteY37" fmla="*/ 465283 h 1027260"/>
              <a:gd name="connsiteX38" fmla="*/ 8049973 w 10753706"/>
              <a:gd name="connsiteY38" fmla="*/ 454121 h 1027260"/>
              <a:gd name="connsiteX39" fmla="*/ 7965913 w 10753706"/>
              <a:gd name="connsiteY39" fmla="*/ 464415 h 1027260"/>
              <a:gd name="connsiteX40" fmla="*/ 7945093 w 10753706"/>
              <a:gd name="connsiteY40" fmla="*/ 464798 h 1027260"/>
              <a:gd name="connsiteX41" fmla="*/ 7935335 w 10753706"/>
              <a:gd name="connsiteY41" fmla="*/ 462442 h 1027260"/>
              <a:gd name="connsiteX42" fmla="*/ 7904779 w 10753706"/>
              <a:gd name="connsiteY42" fmla="*/ 471429 h 1027260"/>
              <a:gd name="connsiteX43" fmla="*/ 7855604 w 10753706"/>
              <a:gd name="connsiteY43" fmla="*/ 480199 h 1027260"/>
              <a:gd name="connsiteX44" fmla="*/ 7832630 w 10753706"/>
              <a:gd name="connsiteY44" fmla="*/ 485371 h 1027260"/>
              <a:gd name="connsiteX45" fmla="*/ 7812438 w 10753706"/>
              <a:gd name="connsiteY45" fmla="*/ 485391 h 1027260"/>
              <a:gd name="connsiteX46" fmla="*/ 7701399 w 10753706"/>
              <a:gd name="connsiteY46" fmla="*/ 495197 h 1027260"/>
              <a:gd name="connsiteX47" fmla="*/ 7674778 w 10753706"/>
              <a:gd name="connsiteY47" fmla="*/ 494723 h 1027260"/>
              <a:gd name="connsiteX48" fmla="*/ 7660445 w 10753706"/>
              <a:gd name="connsiteY48" fmla="*/ 490194 h 1027260"/>
              <a:gd name="connsiteX49" fmla="*/ 7651781 w 10753706"/>
              <a:gd name="connsiteY49" fmla="*/ 493084 h 1027260"/>
              <a:gd name="connsiteX50" fmla="*/ 7584807 w 10753706"/>
              <a:gd name="connsiteY50" fmla="*/ 499490 h 1027260"/>
              <a:gd name="connsiteX51" fmla="*/ 7541324 w 10753706"/>
              <a:gd name="connsiteY51" fmla="*/ 504184 h 1027260"/>
              <a:gd name="connsiteX52" fmla="*/ 7541756 w 10753706"/>
              <a:gd name="connsiteY52" fmla="*/ 512184 h 1027260"/>
              <a:gd name="connsiteX53" fmla="*/ 7503906 w 10753706"/>
              <a:gd name="connsiteY53" fmla="*/ 518551 h 1027260"/>
              <a:gd name="connsiteX54" fmla="*/ 7460411 w 10753706"/>
              <a:gd name="connsiteY54" fmla="*/ 517415 h 1027260"/>
              <a:gd name="connsiteX55" fmla="*/ 7460116 w 10753706"/>
              <a:gd name="connsiteY55" fmla="*/ 517548 h 1027260"/>
              <a:gd name="connsiteX56" fmla="*/ 7297810 w 10753706"/>
              <a:gd name="connsiteY56" fmla="*/ 563947 h 1027260"/>
              <a:gd name="connsiteX57" fmla="*/ 6946388 w 10753706"/>
              <a:gd name="connsiteY57" fmla="*/ 665244 h 1027260"/>
              <a:gd name="connsiteX58" fmla="*/ 6741704 w 10753706"/>
              <a:gd name="connsiteY58" fmla="*/ 679365 h 1027260"/>
              <a:gd name="connsiteX59" fmla="*/ 6624680 w 10753706"/>
              <a:gd name="connsiteY59" fmla="*/ 677674 h 1027260"/>
              <a:gd name="connsiteX60" fmla="*/ 6605700 w 10753706"/>
              <a:gd name="connsiteY60" fmla="*/ 683566 h 1027260"/>
              <a:gd name="connsiteX61" fmla="*/ 6576922 w 10753706"/>
              <a:gd name="connsiteY61" fmla="*/ 683030 h 1027260"/>
              <a:gd name="connsiteX62" fmla="*/ 6405123 w 10753706"/>
              <a:gd name="connsiteY62" fmla="*/ 721946 h 1027260"/>
              <a:gd name="connsiteX63" fmla="*/ 6368938 w 10753706"/>
              <a:gd name="connsiteY63" fmla="*/ 717341 h 1027260"/>
              <a:gd name="connsiteX64" fmla="*/ 6295102 w 10753706"/>
              <a:gd name="connsiteY64" fmla="*/ 729508 h 1027260"/>
              <a:gd name="connsiteX65" fmla="*/ 6202084 w 10753706"/>
              <a:gd name="connsiteY65" fmla="*/ 767091 h 1027260"/>
              <a:gd name="connsiteX66" fmla="*/ 6067157 w 10753706"/>
              <a:gd name="connsiteY66" fmla="*/ 790339 h 1027260"/>
              <a:gd name="connsiteX67" fmla="*/ 6061443 w 10753706"/>
              <a:gd name="connsiteY67" fmla="*/ 796151 h 1027260"/>
              <a:gd name="connsiteX68" fmla="*/ 6051406 w 10753706"/>
              <a:gd name="connsiteY68" fmla="*/ 800684 h 1027260"/>
              <a:gd name="connsiteX69" fmla="*/ 6049097 w 10753706"/>
              <a:gd name="connsiteY69" fmla="*/ 800636 h 1027260"/>
              <a:gd name="connsiteX70" fmla="*/ 6034222 w 10753706"/>
              <a:gd name="connsiteY70" fmla="*/ 804110 h 1027260"/>
              <a:gd name="connsiteX71" fmla="*/ 6033121 w 10753706"/>
              <a:gd name="connsiteY71" fmla="*/ 806078 h 1027260"/>
              <a:gd name="connsiteX72" fmla="*/ 6023593 w 10753706"/>
              <a:gd name="connsiteY72" fmla="*/ 808842 h 1027260"/>
              <a:gd name="connsiteX73" fmla="*/ 6006639 w 10753706"/>
              <a:gd name="connsiteY73" fmla="*/ 815304 h 1027260"/>
              <a:gd name="connsiteX74" fmla="*/ 6001762 w 10753706"/>
              <a:gd name="connsiteY74" fmla="*/ 815557 h 1027260"/>
              <a:gd name="connsiteX75" fmla="*/ 5973534 w 10753706"/>
              <a:gd name="connsiteY75" fmla="*/ 823815 h 1027260"/>
              <a:gd name="connsiteX76" fmla="*/ 5972336 w 10753706"/>
              <a:gd name="connsiteY76" fmla="*/ 823476 h 1027260"/>
              <a:gd name="connsiteX77" fmla="*/ 5960841 w 10753706"/>
              <a:gd name="connsiteY77" fmla="*/ 823819 h 1027260"/>
              <a:gd name="connsiteX78" fmla="*/ 5940719 w 10753706"/>
              <a:gd name="connsiteY78" fmla="*/ 825514 h 1027260"/>
              <a:gd name="connsiteX79" fmla="*/ 5884298 w 10753706"/>
              <a:gd name="connsiteY79" fmla="*/ 823806 h 1027260"/>
              <a:gd name="connsiteX80" fmla="*/ 5854779 w 10753706"/>
              <a:gd name="connsiteY80" fmla="*/ 832365 h 1027260"/>
              <a:gd name="connsiteX81" fmla="*/ 5848382 w 10753706"/>
              <a:gd name="connsiteY81" fmla="*/ 833844 h 1027260"/>
              <a:gd name="connsiteX82" fmla="*/ 5848066 w 10753706"/>
              <a:gd name="connsiteY82" fmla="*/ 833772 h 1027260"/>
              <a:gd name="connsiteX83" fmla="*/ 5840944 w 10753706"/>
              <a:gd name="connsiteY83" fmla="*/ 835132 h 1027260"/>
              <a:gd name="connsiteX84" fmla="*/ 5836719 w 10753706"/>
              <a:gd name="connsiteY84" fmla="*/ 836539 h 1027260"/>
              <a:gd name="connsiteX85" fmla="*/ 5824311 w 10753706"/>
              <a:gd name="connsiteY85" fmla="*/ 839408 h 1027260"/>
              <a:gd name="connsiteX86" fmla="*/ 5818788 w 10753706"/>
              <a:gd name="connsiteY86" fmla="*/ 839727 h 1027260"/>
              <a:gd name="connsiteX87" fmla="*/ 5763953 w 10753706"/>
              <a:gd name="connsiteY87" fmla="*/ 834282 h 1027260"/>
              <a:gd name="connsiteX88" fmla="*/ 5667748 w 10753706"/>
              <a:gd name="connsiteY88" fmla="*/ 840211 h 1027260"/>
              <a:gd name="connsiteX89" fmla="*/ 5573108 w 10753706"/>
              <a:gd name="connsiteY89" fmla="*/ 847611 h 1027260"/>
              <a:gd name="connsiteX90" fmla="*/ 5539137 w 10753706"/>
              <a:gd name="connsiteY90" fmla="*/ 851033 h 1027260"/>
              <a:gd name="connsiteX91" fmla="*/ 5510651 w 10753706"/>
              <a:gd name="connsiteY91" fmla="*/ 844215 h 1027260"/>
              <a:gd name="connsiteX92" fmla="*/ 5457331 w 10753706"/>
              <a:gd name="connsiteY92" fmla="*/ 839159 h 1027260"/>
              <a:gd name="connsiteX93" fmla="*/ 5410613 w 10753706"/>
              <a:gd name="connsiteY93" fmla="*/ 834358 h 1027260"/>
              <a:gd name="connsiteX94" fmla="*/ 5370040 w 10753706"/>
              <a:gd name="connsiteY94" fmla="*/ 862127 h 1027260"/>
              <a:gd name="connsiteX95" fmla="*/ 5318778 w 10753706"/>
              <a:gd name="connsiteY95" fmla="*/ 855310 h 1027260"/>
              <a:gd name="connsiteX96" fmla="*/ 5298645 w 10753706"/>
              <a:gd name="connsiteY96" fmla="*/ 855171 h 1027260"/>
              <a:gd name="connsiteX97" fmla="*/ 5253828 w 10753706"/>
              <a:gd name="connsiteY97" fmla="*/ 859670 h 1027260"/>
              <a:gd name="connsiteX98" fmla="*/ 5216955 w 10753706"/>
              <a:gd name="connsiteY98" fmla="*/ 866245 h 1027260"/>
              <a:gd name="connsiteX99" fmla="*/ 5214344 w 10753706"/>
              <a:gd name="connsiteY99" fmla="*/ 868102 h 1027260"/>
              <a:gd name="connsiteX100" fmla="*/ 5195561 w 10753706"/>
              <a:gd name="connsiteY100" fmla="*/ 869949 h 1027260"/>
              <a:gd name="connsiteX101" fmla="*/ 5182555 w 10753706"/>
              <a:gd name="connsiteY101" fmla="*/ 873542 h 1027260"/>
              <a:gd name="connsiteX102" fmla="*/ 5172552 w 10753706"/>
              <a:gd name="connsiteY102" fmla="*/ 878801 h 1027260"/>
              <a:gd name="connsiteX103" fmla="*/ 5027993 w 10753706"/>
              <a:gd name="connsiteY103" fmla="*/ 889666 h 1027260"/>
              <a:gd name="connsiteX104" fmla="*/ 4939844 w 10753706"/>
              <a:gd name="connsiteY104" fmla="*/ 934802 h 1027260"/>
              <a:gd name="connsiteX105" fmla="*/ 4792576 w 10753706"/>
              <a:gd name="connsiteY105" fmla="*/ 934820 h 1027260"/>
              <a:gd name="connsiteX106" fmla="*/ 4602423 w 10753706"/>
              <a:gd name="connsiteY106" fmla="*/ 958063 h 1027260"/>
              <a:gd name="connsiteX107" fmla="*/ 4290656 w 10753706"/>
              <a:gd name="connsiteY107" fmla="*/ 969152 h 1027260"/>
              <a:gd name="connsiteX108" fmla="*/ 3952334 w 10753706"/>
              <a:gd name="connsiteY108" fmla="*/ 954043 h 1027260"/>
              <a:gd name="connsiteX109" fmla="*/ 3858560 w 10753706"/>
              <a:gd name="connsiteY109" fmla="*/ 948781 h 1027260"/>
              <a:gd name="connsiteX110" fmla="*/ 3846597 w 10753706"/>
              <a:gd name="connsiteY110" fmla="*/ 948382 h 1027260"/>
              <a:gd name="connsiteX111" fmla="*/ 3736044 w 10753706"/>
              <a:gd name="connsiteY111" fmla="*/ 947759 h 1027260"/>
              <a:gd name="connsiteX112" fmla="*/ 3713136 w 10753706"/>
              <a:gd name="connsiteY112" fmla="*/ 946963 h 1027260"/>
              <a:gd name="connsiteX113" fmla="*/ 3695939 w 10753706"/>
              <a:gd name="connsiteY113" fmla="*/ 943639 h 1027260"/>
              <a:gd name="connsiteX114" fmla="*/ 3694125 w 10753706"/>
              <a:gd name="connsiteY114" fmla="*/ 940567 h 1027260"/>
              <a:gd name="connsiteX115" fmla="*/ 3681925 w 10753706"/>
              <a:gd name="connsiteY115" fmla="*/ 939706 h 1027260"/>
              <a:gd name="connsiteX116" fmla="*/ 3679204 w 10753706"/>
              <a:gd name="connsiteY116" fmla="*/ 938926 h 1027260"/>
              <a:gd name="connsiteX117" fmla="*/ 3615656 w 10753706"/>
              <a:gd name="connsiteY117" fmla="*/ 940320 h 1027260"/>
              <a:gd name="connsiteX118" fmla="*/ 3567983 w 10753706"/>
              <a:gd name="connsiteY118" fmla="*/ 935596 h 1027260"/>
              <a:gd name="connsiteX119" fmla="*/ 3422423 w 10753706"/>
              <a:gd name="connsiteY119" fmla="*/ 932129 h 1027260"/>
              <a:gd name="connsiteX120" fmla="*/ 3310925 w 10753706"/>
              <a:gd name="connsiteY120" fmla="*/ 911072 h 1027260"/>
              <a:gd name="connsiteX121" fmla="*/ 3139421 w 10753706"/>
              <a:gd name="connsiteY121" fmla="*/ 934151 h 1027260"/>
              <a:gd name="connsiteX122" fmla="*/ 2996922 w 10753706"/>
              <a:gd name="connsiteY122" fmla="*/ 927537 h 1027260"/>
              <a:gd name="connsiteX123" fmla="*/ 2982785 w 10753706"/>
              <a:gd name="connsiteY123" fmla="*/ 931453 h 1027260"/>
              <a:gd name="connsiteX124" fmla="*/ 2967478 w 10753706"/>
              <a:gd name="connsiteY124" fmla="*/ 933397 h 1027260"/>
              <a:gd name="connsiteX125" fmla="*/ 2948552 w 10753706"/>
              <a:gd name="connsiteY125" fmla="*/ 932961 h 1027260"/>
              <a:gd name="connsiteX126" fmla="*/ 2944404 w 10753706"/>
              <a:gd name="connsiteY126" fmla="*/ 934452 h 1027260"/>
              <a:gd name="connsiteX127" fmla="*/ 2908608 w 10753706"/>
              <a:gd name="connsiteY127" fmla="*/ 937205 h 1027260"/>
              <a:gd name="connsiteX128" fmla="*/ 2904443 w 10753706"/>
              <a:gd name="connsiteY128" fmla="*/ 936455 h 1027260"/>
              <a:gd name="connsiteX129" fmla="*/ 2868935 w 10753706"/>
              <a:gd name="connsiteY129" fmla="*/ 938022 h 1027260"/>
              <a:gd name="connsiteX130" fmla="*/ 2868586 w 10753706"/>
              <a:gd name="connsiteY130" fmla="*/ 937487 h 1027260"/>
              <a:gd name="connsiteX131" fmla="*/ 2859191 w 10753706"/>
              <a:gd name="connsiteY131" fmla="*/ 935503 h 1027260"/>
              <a:gd name="connsiteX132" fmla="*/ 2840915 w 10753706"/>
              <a:gd name="connsiteY132" fmla="*/ 932977 h 1027260"/>
              <a:gd name="connsiteX133" fmla="*/ 2763509 w 10753706"/>
              <a:gd name="connsiteY133" fmla="*/ 921850 h 1027260"/>
              <a:gd name="connsiteX134" fmla="*/ 2756121 w 10753706"/>
              <a:gd name="connsiteY134" fmla="*/ 921864 h 1027260"/>
              <a:gd name="connsiteX135" fmla="*/ 2755998 w 10753706"/>
              <a:gd name="connsiteY135" fmla="*/ 921739 h 1027260"/>
              <a:gd name="connsiteX136" fmla="*/ 2748255 w 10753706"/>
              <a:gd name="connsiteY136" fmla="*/ 921505 h 1027260"/>
              <a:gd name="connsiteX137" fmla="*/ 2694601 w 10753706"/>
              <a:gd name="connsiteY137" fmla="*/ 915575 h 1027260"/>
              <a:gd name="connsiteX138" fmla="*/ 2635357 w 10753706"/>
              <a:gd name="connsiteY138" fmla="*/ 910976 h 1027260"/>
              <a:gd name="connsiteX139" fmla="*/ 2601047 w 10753706"/>
              <a:gd name="connsiteY139" fmla="*/ 910263 h 1027260"/>
              <a:gd name="connsiteX140" fmla="*/ 2507482 w 10753706"/>
              <a:gd name="connsiteY140" fmla="*/ 906211 h 1027260"/>
              <a:gd name="connsiteX141" fmla="*/ 2413884 w 10753706"/>
              <a:gd name="connsiteY141" fmla="*/ 900545 h 1027260"/>
              <a:gd name="connsiteX142" fmla="*/ 2368912 w 10753706"/>
              <a:gd name="connsiteY142" fmla="*/ 888755 h 1027260"/>
              <a:gd name="connsiteX143" fmla="*/ 2349490 w 10753706"/>
              <a:gd name="connsiteY143" fmla="*/ 889719 h 1027260"/>
              <a:gd name="connsiteX144" fmla="*/ 2344290 w 10753706"/>
              <a:gd name="connsiteY144" fmla="*/ 890584 h 1027260"/>
              <a:gd name="connsiteX145" fmla="*/ 2336488 w 10753706"/>
              <a:gd name="connsiteY145" fmla="*/ 891058 h 1027260"/>
              <a:gd name="connsiteX146" fmla="*/ 2329015 w 10753706"/>
              <a:gd name="connsiteY146" fmla="*/ 891627 h 1027260"/>
              <a:gd name="connsiteX147" fmla="*/ 2293898 w 10753706"/>
              <a:gd name="connsiteY147" fmla="*/ 896431 h 1027260"/>
              <a:gd name="connsiteX148" fmla="*/ 2243927 w 10753706"/>
              <a:gd name="connsiteY148" fmla="*/ 888076 h 1027260"/>
              <a:gd name="connsiteX149" fmla="*/ 2223920 w 10753706"/>
              <a:gd name="connsiteY149" fmla="*/ 887331 h 1027260"/>
              <a:gd name="connsiteX150" fmla="*/ 2213081 w 10753706"/>
              <a:gd name="connsiteY150" fmla="*/ 886302 h 1027260"/>
              <a:gd name="connsiteX151" fmla="*/ 2212307 w 10753706"/>
              <a:gd name="connsiteY151" fmla="*/ 885829 h 1027260"/>
              <a:gd name="connsiteX152" fmla="*/ 2152321 w 10753706"/>
              <a:gd name="connsiteY152" fmla="*/ 894418 h 1027260"/>
              <a:gd name="connsiteX153" fmla="*/ 2140985 w 10753706"/>
              <a:gd name="connsiteY153" fmla="*/ 895968 h 1027260"/>
              <a:gd name="connsiteX154" fmla="*/ 2121210 w 10753706"/>
              <a:gd name="connsiteY154" fmla="*/ 899354 h 1027260"/>
              <a:gd name="connsiteX155" fmla="*/ 2119146 w 10753706"/>
              <a:gd name="connsiteY155" fmla="*/ 899033 h 1027260"/>
              <a:gd name="connsiteX156" fmla="*/ 2105666 w 10753706"/>
              <a:gd name="connsiteY156" fmla="*/ 902240 h 1027260"/>
              <a:gd name="connsiteX157" fmla="*/ 2094924 w 10753706"/>
              <a:gd name="connsiteY157" fmla="*/ 907203 h 1027260"/>
              <a:gd name="connsiteX158" fmla="*/ 1949478 w 10753706"/>
              <a:gd name="connsiteY158" fmla="*/ 913748 h 1027260"/>
              <a:gd name="connsiteX159" fmla="*/ 1749684 w 10753706"/>
              <a:gd name="connsiteY159" fmla="*/ 942223 h 1027260"/>
              <a:gd name="connsiteX160" fmla="*/ 1585576 w 10753706"/>
              <a:gd name="connsiteY160" fmla="*/ 954170 h 1027260"/>
              <a:gd name="connsiteX161" fmla="*/ 1476250 w 10753706"/>
              <a:gd name="connsiteY161" fmla="*/ 950653 h 1027260"/>
              <a:gd name="connsiteX162" fmla="*/ 1433927 w 10753706"/>
              <a:gd name="connsiteY162" fmla="*/ 959926 h 1027260"/>
              <a:gd name="connsiteX163" fmla="*/ 1414893 w 10753706"/>
              <a:gd name="connsiteY163" fmla="*/ 957671 h 1027260"/>
              <a:gd name="connsiteX164" fmla="*/ 1411585 w 10753706"/>
              <a:gd name="connsiteY164" fmla="*/ 957179 h 1027260"/>
              <a:gd name="connsiteX165" fmla="*/ 1398896 w 10753706"/>
              <a:gd name="connsiteY165" fmla="*/ 957460 h 1027260"/>
              <a:gd name="connsiteX166" fmla="*/ 1394632 w 10753706"/>
              <a:gd name="connsiteY166" fmla="*/ 954725 h 1027260"/>
              <a:gd name="connsiteX167" fmla="*/ 1375043 w 10753706"/>
              <a:gd name="connsiteY167" fmla="*/ 953132 h 1027260"/>
              <a:gd name="connsiteX168" fmla="*/ 1351876 w 10753706"/>
              <a:gd name="connsiteY168" fmla="*/ 954436 h 1027260"/>
              <a:gd name="connsiteX169" fmla="*/ 1242676 w 10753706"/>
              <a:gd name="connsiteY169" fmla="*/ 963767 h 1027260"/>
              <a:gd name="connsiteX170" fmla="*/ 1205993 w 10753706"/>
              <a:gd name="connsiteY170" fmla="*/ 974080 h 1027260"/>
              <a:gd name="connsiteX171" fmla="*/ 1052221 w 10753706"/>
              <a:gd name="connsiteY171" fmla="*/ 963954 h 1027260"/>
              <a:gd name="connsiteX172" fmla="*/ 968270 w 10753706"/>
              <a:gd name="connsiteY172" fmla="*/ 964761 h 1027260"/>
              <a:gd name="connsiteX173" fmla="*/ 874493 w 10753706"/>
              <a:gd name="connsiteY173" fmla="*/ 998122 h 1027260"/>
              <a:gd name="connsiteX174" fmla="*/ 814411 w 10753706"/>
              <a:gd name="connsiteY174" fmla="*/ 1007391 h 1027260"/>
              <a:gd name="connsiteX175" fmla="*/ 688604 w 10753706"/>
              <a:gd name="connsiteY175" fmla="*/ 1015631 h 1027260"/>
              <a:gd name="connsiteX176" fmla="*/ 618171 w 10753706"/>
              <a:gd name="connsiteY176" fmla="*/ 1027260 h 1027260"/>
              <a:gd name="connsiteX177" fmla="*/ 570379 w 10753706"/>
              <a:gd name="connsiteY177" fmla="*/ 1023487 h 1027260"/>
              <a:gd name="connsiteX178" fmla="*/ 482519 w 10753706"/>
              <a:gd name="connsiteY178" fmla="*/ 1002108 h 1027260"/>
              <a:gd name="connsiteX179" fmla="*/ 475319 w 10753706"/>
              <a:gd name="connsiteY179" fmla="*/ 1009922 h 1027260"/>
              <a:gd name="connsiteX180" fmla="*/ 431104 w 10753706"/>
              <a:gd name="connsiteY180" fmla="*/ 1009317 h 1027260"/>
              <a:gd name="connsiteX181" fmla="*/ 363782 w 10753706"/>
              <a:gd name="connsiteY181" fmla="*/ 1007585 h 1027260"/>
              <a:gd name="connsiteX182" fmla="*/ 325533 w 10753706"/>
              <a:gd name="connsiteY182" fmla="*/ 1008502 h 1027260"/>
              <a:gd name="connsiteX183" fmla="*/ 220429 w 10753706"/>
              <a:gd name="connsiteY183" fmla="*/ 1008927 h 1027260"/>
              <a:gd name="connsiteX184" fmla="*/ 114676 w 10753706"/>
              <a:gd name="connsiteY184" fmla="*/ 1007765 h 1027260"/>
              <a:gd name="connsiteX185" fmla="*/ 13470 w 10753706"/>
              <a:gd name="connsiteY185" fmla="*/ 998544 h 1027260"/>
              <a:gd name="connsiteX186" fmla="*/ 0 w 10753706"/>
              <a:gd name="connsiteY186" fmla="*/ 997355 h 102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10753706" h="102726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6" name="Picture 5" descr="A blue rectangular sign with white text&#10;&#10;Description automatically generated">
            <a:extLst>
              <a:ext uri="{FF2B5EF4-FFF2-40B4-BE49-F238E27FC236}">
                <a16:creationId xmlns:a16="http://schemas.microsoft.com/office/drawing/2014/main" id="{956DF988-D304-C010-3263-AE7D7ABB2DC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26" y="6218116"/>
            <a:ext cx="1044000" cy="592470"/>
          </a:xfrm>
          <a:prstGeom prst="rect">
            <a:avLst/>
          </a:prstGeom>
        </p:spPr>
      </p:pic>
      <p:pic>
        <p:nvPicPr>
          <p:cNvPr id="5" name="Picture 4">
            <a:extLst>
              <a:ext uri="{FF2B5EF4-FFF2-40B4-BE49-F238E27FC236}">
                <a16:creationId xmlns:a16="http://schemas.microsoft.com/office/drawing/2014/main" id="{038C0265-37C4-58BA-1951-2A517DA993F5}"/>
              </a:ext>
            </a:extLst>
          </p:cNvPr>
          <p:cNvPicPr>
            <a:picLocks noChangeAspect="1"/>
          </p:cNvPicPr>
          <p:nvPr/>
        </p:nvPicPr>
        <p:blipFill>
          <a:blip r:embed="rId3"/>
          <a:stretch>
            <a:fillRect/>
          </a:stretch>
        </p:blipFill>
        <p:spPr>
          <a:xfrm>
            <a:off x="10846193" y="6560628"/>
            <a:ext cx="1261981" cy="249958"/>
          </a:xfrm>
          <a:prstGeom prst="rect">
            <a:avLst/>
          </a:prstGeom>
        </p:spPr>
      </p:pic>
      <p:graphicFrame>
        <p:nvGraphicFramePr>
          <p:cNvPr id="8" name="Table 7">
            <a:extLst>
              <a:ext uri="{FF2B5EF4-FFF2-40B4-BE49-F238E27FC236}">
                <a16:creationId xmlns:a16="http://schemas.microsoft.com/office/drawing/2014/main" id="{F03EA405-6A0C-EA93-B169-9EA8DE10ED0E}"/>
              </a:ext>
            </a:extLst>
          </p:cNvPr>
          <p:cNvGraphicFramePr>
            <a:graphicFrameLocks noGrp="1"/>
          </p:cNvGraphicFramePr>
          <p:nvPr>
            <p:extLst>
              <p:ext uri="{D42A27DB-BD31-4B8C-83A1-F6EECF244321}">
                <p14:modId xmlns:p14="http://schemas.microsoft.com/office/powerpoint/2010/main" val="1602759804"/>
              </p:ext>
            </p:extLst>
          </p:nvPr>
        </p:nvGraphicFramePr>
        <p:xfrm>
          <a:off x="6870196" y="2413050"/>
          <a:ext cx="4788506" cy="2901157"/>
        </p:xfrm>
        <a:graphic>
          <a:graphicData uri="http://schemas.openxmlformats.org/drawingml/2006/table">
            <a:tbl>
              <a:tblPr firstRow="1" bandRow="1">
                <a:noFill/>
                <a:tableStyleId>{5C22544A-7EE6-4342-B048-85BDC9FD1C3A}</a:tableStyleId>
              </a:tblPr>
              <a:tblGrid>
                <a:gridCol w="1615174">
                  <a:extLst>
                    <a:ext uri="{9D8B030D-6E8A-4147-A177-3AD203B41FA5}">
                      <a16:colId xmlns:a16="http://schemas.microsoft.com/office/drawing/2014/main" val="901888321"/>
                    </a:ext>
                  </a:extLst>
                </a:gridCol>
                <a:gridCol w="3173332">
                  <a:extLst>
                    <a:ext uri="{9D8B030D-6E8A-4147-A177-3AD203B41FA5}">
                      <a16:colId xmlns:a16="http://schemas.microsoft.com/office/drawing/2014/main" val="4252930371"/>
                    </a:ext>
                  </a:extLst>
                </a:gridCol>
              </a:tblGrid>
              <a:tr h="474635">
                <a:tc>
                  <a:txBody>
                    <a:bodyPr/>
                    <a:lstStyle/>
                    <a:p>
                      <a:pPr algn="ctr" fontAlgn="ctr">
                        <a:buNone/>
                      </a:pPr>
                      <a:r>
                        <a:rPr lang="en-ZA" sz="2100" b="0" u="none" strike="noStrike" cap="none" spc="60" dirty="0">
                          <a:solidFill>
                            <a:schemeClr val="bg1"/>
                          </a:solidFill>
                          <a:effectLst/>
                        </a:rPr>
                        <a:t>Component</a:t>
                      </a:r>
                      <a:endParaRPr lang="en-ZA" sz="2100" b="0" i="0" u="none" strike="noStrike" cap="none" spc="60" dirty="0">
                        <a:solidFill>
                          <a:schemeClr val="bg1"/>
                        </a:solidFill>
                        <a:effectLst/>
                        <a:latin typeface="Aptos Narrow" panose="020B0004020202020204" pitchFamily="34" charset="0"/>
                      </a:endParaRPr>
                    </a:p>
                  </a:txBody>
                  <a:tcPr marL="26436" marR="26436" marT="121712" marB="0" anchor="ctr">
                    <a:lnL w="12700" cmpd="sng">
                      <a:noFill/>
                    </a:lnL>
                    <a:lnR w="12700" cmpd="sng">
                      <a:noFill/>
                    </a:lnR>
                    <a:lnT w="19050" cap="flat" cmpd="sng" algn="ctr">
                      <a:noFill/>
                      <a:prstDash val="solid"/>
                    </a:lnT>
                    <a:lnB w="38100" cmpd="sng">
                      <a:noFill/>
                    </a:lnB>
                    <a:solidFill>
                      <a:schemeClr val="accent1"/>
                    </a:solidFill>
                  </a:tcPr>
                </a:tc>
                <a:tc>
                  <a:txBody>
                    <a:bodyPr/>
                    <a:lstStyle/>
                    <a:p>
                      <a:pPr algn="ctr" fontAlgn="ctr">
                        <a:buNone/>
                      </a:pPr>
                      <a:r>
                        <a:rPr lang="en-ZA" sz="2100" b="0" u="none" strike="noStrike" cap="none" spc="60">
                          <a:solidFill>
                            <a:schemeClr val="bg1"/>
                          </a:solidFill>
                          <a:effectLst/>
                        </a:rPr>
                        <a:t>Purpose</a:t>
                      </a:r>
                      <a:endParaRPr lang="en-ZA" sz="2100" b="0" i="0" u="none" strike="noStrike" cap="none" spc="60">
                        <a:solidFill>
                          <a:schemeClr val="bg1"/>
                        </a:solidFill>
                        <a:effectLst/>
                        <a:latin typeface="Aptos Narrow" panose="020B0004020202020204" pitchFamily="34" charset="0"/>
                      </a:endParaRPr>
                    </a:p>
                  </a:txBody>
                  <a:tcPr marL="26436" marR="26436" marT="121712" marB="0" anchor="ctr">
                    <a:lnL w="12700" cmpd="sng">
                      <a:noFill/>
                    </a:lnL>
                    <a:lnR w="12700" cmpd="sng">
                      <a:noFill/>
                    </a:lnR>
                    <a:lnT w="19050" cap="flat" cmpd="sng" algn="ctr">
                      <a:noFill/>
                      <a:prstDash val="solid"/>
                    </a:lnT>
                    <a:lnB w="38100" cmpd="sng">
                      <a:noFill/>
                    </a:lnB>
                    <a:solidFill>
                      <a:schemeClr val="accent1"/>
                    </a:solidFill>
                  </a:tcPr>
                </a:tc>
                <a:extLst>
                  <a:ext uri="{0D108BD9-81ED-4DB2-BD59-A6C34878D82A}">
                    <a16:rowId xmlns:a16="http://schemas.microsoft.com/office/drawing/2014/main" val="11379954"/>
                  </a:ext>
                </a:extLst>
              </a:tr>
              <a:tr h="715263">
                <a:tc>
                  <a:txBody>
                    <a:bodyPr/>
                    <a:lstStyle/>
                    <a:p>
                      <a:pPr algn="l" fontAlgn="ctr">
                        <a:buNone/>
                      </a:pPr>
                      <a:r>
                        <a:rPr lang="en-ZA" sz="1800" u="none" strike="noStrike" cap="none" spc="0">
                          <a:solidFill>
                            <a:schemeClr val="tx1"/>
                          </a:solidFill>
                          <a:effectLst/>
                        </a:rPr>
                        <a:t>Anomaly detection</a:t>
                      </a:r>
                      <a:endParaRPr lang="en-ZA" sz="1800" b="0" i="0" u="none" strike="noStrike" cap="none" spc="0">
                        <a:solidFill>
                          <a:schemeClr val="tx1"/>
                        </a:solidFill>
                        <a:effectLst/>
                        <a:latin typeface="Aptos Narrow" panose="020B0004020202020204" pitchFamily="34" charset="0"/>
                      </a:endParaRPr>
                    </a:p>
                  </a:txBody>
                  <a:tcPr marL="26436" marR="26436" marT="121712" marB="0" anchor="ctr">
                    <a:lnL w="12700" cmpd="sng">
                      <a:noFill/>
                      <a:prstDash val="solid"/>
                    </a:lnL>
                    <a:lnR w="12700" cmpd="sng">
                      <a:noFill/>
                      <a:prstDash val="solid"/>
                    </a:lnR>
                    <a:lnT w="38100" cmpd="sng">
                      <a:noFill/>
                    </a:lnT>
                    <a:lnB w="12700" cap="flat" cmpd="sng" algn="ctr">
                      <a:noFill/>
                      <a:prstDash val="solid"/>
                    </a:lnB>
                    <a:noFill/>
                  </a:tcPr>
                </a:tc>
                <a:tc>
                  <a:txBody>
                    <a:bodyPr/>
                    <a:lstStyle/>
                    <a:p>
                      <a:pPr algn="l" fontAlgn="ctr">
                        <a:buNone/>
                      </a:pPr>
                      <a:r>
                        <a:rPr lang="en-ZA" sz="1800" u="none" strike="noStrike" cap="none" spc="0">
                          <a:solidFill>
                            <a:schemeClr val="tx1"/>
                          </a:solidFill>
                          <a:effectLst/>
                        </a:rPr>
                        <a:t>Identify abnormal or deteriorating behaviour</a:t>
                      </a:r>
                      <a:endParaRPr lang="en-ZA" sz="1800" b="0" i="0" u="none" strike="noStrike" cap="none" spc="0">
                        <a:solidFill>
                          <a:schemeClr val="tx1"/>
                        </a:solidFill>
                        <a:effectLst/>
                        <a:latin typeface="Aptos Narrow" panose="020B0004020202020204" pitchFamily="34" charset="0"/>
                      </a:endParaRPr>
                    </a:p>
                  </a:txBody>
                  <a:tcPr marL="26436" marR="26436" marT="121712" marB="0" anchor="ctr">
                    <a:lnL w="12700" cmpd="sng">
                      <a:noFill/>
                      <a:prstDash val="solid"/>
                    </a:lnL>
                    <a:lnR w="12700" cmpd="sng">
                      <a:noFill/>
                      <a:prstDash val="solid"/>
                    </a:lnR>
                    <a:lnT w="38100" cmpd="sng">
                      <a:noFill/>
                    </a:lnT>
                    <a:lnB w="12700" cap="flat" cmpd="sng" algn="ctr">
                      <a:noFill/>
                      <a:prstDash val="solid"/>
                    </a:lnB>
                    <a:noFill/>
                  </a:tcPr>
                </a:tc>
                <a:extLst>
                  <a:ext uri="{0D108BD9-81ED-4DB2-BD59-A6C34878D82A}">
                    <a16:rowId xmlns:a16="http://schemas.microsoft.com/office/drawing/2014/main" val="3920070307"/>
                  </a:ext>
                </a:extLst>
              </a:tr>
              <a:tr h="995996">
                <a:tc>
                  <a:txBody>
                    <a:bodyPr/>
                    <a:lstStyle/>
                    <a:p>
                      <a:pPr algn="l" fontAlgn="ctr">
                        <a:buNone/>
                      </a:pPr>
                      <a:r>
                        <a:rPr lang="en-ZA" sz="1800" u="none" strike="noStrike" cap="none" spc="0">
                          <a:solidFill>
                            <a:schemeClr val="tx1"/>
                          </a:solidFill>
                          <a:effectLst/>
                        </a:rPr>
                        <a:t>Event correlation</a:t>
                      </a:r>
                      <a:endParaRPr lang="en-ZA" sz="1800" b="0" i="0" u="none" strike="noStrike" cap="none" spc="0">
                        <a:solidFill>
                          <a:schemeClr val="tx1"/>
                        </a:solidFill>
                        <a:effectLst/>
                        <a:latin typeface="Aptos Narrow" panose="020B0004020202020204" pitchFamily="34" charset="0"/>
                      </a:endParaRPr>
                    </a:p>
                  </a:txBody>
                  <a:tcPr marL="26436" marR="26436" marT="121712" marB="0" anchor="ctr">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ctr">
                        <a:buNone/>
                      </a:pPr>
                      <a:r>
                        <a:rPr lang="en-ZA" sz="1800" u="none" strike="noStrike" cap="none" spc="0" dirty="0">
                          <a:solidFill>
                            <a:schemeClr val="tx1"/>
                          </a:solidFill>
                          <a:effectLst/>
                        </a:rPr>
                        <a:t>Group related alarms, KPIs, changes and topology relationships</a:t>
                      </a:r>
                      <a:endParaRPr lang="en-ZA" sz="1800" b="0" i="0" u="none" strike="noStrike" cap="none" spc="0" dirty="0">
                        <a:solidFill>
                          <a:schemeClr val="tx1"/>
                        </a:solidFill>
                        <a:effectLst/>
                        <a:latin typeface="Aptos Narrow" panose="020B0004020202020204" pitchFamily="34" charset="0"/>
                      </a:endParaRPr>
                    </a:p>
                  </a:txBody>
                  <a:tcPr marL="26436" marR="26436" marT="121712" marB="0" anchor="ctr">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3628320543"/>
                  </a:ext>
                </a:extLst>
              </a:tr>
              <a:tr h="715263">
                <a:tc>
                  <a:txBody>
                    <a:bodyPr/>
                    <a:lstStyle/>
                    <a:p>
                      <a:pPr algn="l" fontAlgn="ctr">
                        <a:buNone/>
                      </a:pPr>
                      <a:r>
                        <a:rPr lang="en-ZA" sz="1800" u="none" strike="noStrike" cap="none" spc="0">
                          <a:solidFill>
                            <a:schemeClr val="tx1"/>
                          </a:solidFill>
                          <a:effectLst/>
                        </a:rPr>
                        <a:t>Root-cause analysis</a:t>
                      </a:r>
                      <a:endParaRPr lang="en-ZA" sz="1800" b="0" i="0" u="none" strike="noStrike" cap="none" spc="0">
                        <a:solidFill>
                          <a:schemeClr val="tx1"/>
                        </a:solidFill>
                        <a:effectLst/>
                        <a:latin typeface="Aptos Narrow" panose="020B0004020202020204" pitchFamily="34" charset="0"/>
                      </a:endParaRPr>
                    </a:p>
                  </a:txBody>
                  <a:tcPr marL="26436" marR="26436" marT="121712" marB="0" anchor="ctr">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ctr">
                        <a:buNone/>
                      </a:pPr>
                      <a:r>
                        <a:rPr lang="en-ZA" sz="1800" u="none" strike="noStrike" cap="none" spc="0" dirty="0">
                          <a:solidFill>
                            <a:schemeClr val="tx1"/>
                          </a:solidFill>
                          <a:effectLst/>
                        </a:rPr>
                        <a:t>Rank probable causes using evidence and dependencies</a:t>
                      </a:r>
                      <a:endParaRPr lang="en-ZA" sz="1800" b="0" i="0" u="none" strike="noStrike" cap="none" spc="0" dirty="0">
                        <a:solidFill>
                          <a:schemeClr val="tx1"/>
                        </a:solidFill>
                        <a:effectLst/>
                        <a:latin typeface="Aptos Narrow" panose="020B0004020202020204" pitchFamily="34" charset="0"/>
                      </a:endParaRPr>
                    </a:p>
                  </a:txBody>
                  <a:tcPr marL="26436" marR="26436" marT="121712" marB="0" anchor="ctr">
                    <a:lnL w="12700" cmpd="sng">
                      <a:noFill/>
                      <a:prstDash val="solid"/>
                    </a:lnL>
                    <a:lnR w="12700" cmpd="sng">
                      <a:noFill/>
                      <a:prstDash val="solid"/>
                    </a:lnR>
                    <a:lnT w="12700" cmpd="sng">
                      <a:noFill/>
                      <a:prstDash val="solid"/>
                    </a:lnT>
                    <a:lnB w="12700" cap="flat" cmpd="sng" algn="ctr">
                      <a:noFill/>
                      <a:prstDash val="solid"/>
                    </a:lnB>
                    <a:noFill/>
                  </a:tcPr>
                </a:tc>
                <a:extLst>
                  <a:ext uri="{0D108BD9-81ED-4DB2-BD59-A6C34878D82A}">
                    <a16:rowId xmlns:a16="http://schemas.microsoft.com/office/drawing/2014/main" val="4214177314"/>
                  </a:ext>
                </a:extLst>
              </a:tr>
            </a:tbl>
          </a:graphicData>
        </a:graphic>
      </p:graphicFrame>
    </p:spTree>
    <p:extLst>
      <p:ext uri="{BB962C8B-B14F-4D97-AF65-F5344CB8AC3E}">
        <p14:creationId xmlns:p14="http://schemas.microsoft.com/office/powerpoint/2010/main" val="381203385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9938</TotalTime>
  <Words>1008</Words>
  <Application>Microsoft Office PowerPoint</Application>
  <PresentationFormat>Widescreen</PresentationFormat>
  <Paragraphs>68</Paragraphs>
  <Slides>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vt:i4>
      </vt:variant>
    </vt:vector>
  </HeadingPairs>
  <TitlesOfParts>
    <vt:vector size="12" baseType="lpstr">
      <vt:lpstr>Aptos Narrow</vt:lpstr>
      <vt:lpstr>Arial</vt:lpstr>
      <vt:lpstr>Calibri</vt:lpstr>
      <vt:lpstr>Calibri Light</vt:lpstr>
      <vt:lpstr>Wingdings</vt:lpstr>
      <vt:lpstr>Office Theme</vt:lpstr>
      <vt:lpstr>SATNAC 2026 INDUSTRY SOLUTIONS CHALLENGE</vt:lpstr>
      <vt:lpstr>TELKOM TOPIC 1: SYNOPSIS - AI-Enabled Intelligent Connectivity and Next-Generation Networks  </vt:lpstr>
      <vt:lpstr>TOPIC 1: SOLUTION REQUIREMENTS</vt:lpstr>
      <vt:lpstr>TELKOM TOPIC 2 : SYNOPSIS - AI-Driven Digital Enterprise and Intelligent Services </vt:lpstr>
      <vt:lpstr>PowerPoint Presentation</vt:lpstr>
      <vt:lpstr>Intended AI-enabled capability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SATNAC 2024 INDUSTRY SOLUTIONS CHALLENGE</dc:title>
  <dc:creator>Asavela Sigonya (A)</dc:creator>
  <cp:lastModifiedBy>Vuyiseka Diko (V)</cp:lastModifiedBy>
  <cp:revision>7</cp:revision>
  <dcterms:created xsi:type="dcterms:W3CDTF">2024-07-02T15:52:57Z</dcterms:created>
  <dcterms:modified xsi:type="dcterms:W3CDTF">2026-09-01T19:01:20Z</dcterms:modified>
</cp:coreProperties>
</file>